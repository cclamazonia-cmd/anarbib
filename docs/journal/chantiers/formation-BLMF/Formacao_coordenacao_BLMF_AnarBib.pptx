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81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a frase do título em voz alta: ela é a promessa política desta formação. O software foi feito para que o erro custe barato. As poucas exceções — os gestos irreversíveis — são nomeadas uma a uma ao longo dos módulos e recapituladas no fim. Ninguém aprende com medo da própria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promessa não é «nada tem consequência»: é «as consequências graves são poucas e têm nome». É isso que permite aprender rápido. Guarde a legenda das três pastilhas — ela volta em todos 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Situar a ferramenta antes de entrar nela. O ponto político: AGPL + Codeberg + backups = ninguém fica refém. É também a resposta para «e se o Xavier sumir?».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seis objetivos são os critérios de autonomia. No fim das oito semanas de prática, a gente repassa a lista junt(o/a/e)s e marca o que já está de 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formação não são os sete encontros: é a prática entre eles. Os encontros só abrem as portas. O ritual semanal está no penúltimo slide — anuncie ele desde já.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doutrina §9.14.2 das especificações de perfis. Ela evita a mistura clássica dos SIGB comerciais, em que a configuração política fica jogada no back-office operacional. Faça repetir a regra prática do rodapé.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D3 da especificação de onboarding. O caminho real, verificado na base: os oito membros de equipe da rede passaram tod(o/a/e)s por leitor(a/e) antes, na mesma conta. Erro típico a prevenir: criar uma segunda conta para «entrar como equipe». A primeira coisa a pedir a quem vai entrar na equipe é: «me manda o teu ID público».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a palavra «hierarquia»: são três perímetros de delegação. O princípio P1 diz isso com todas as letras. A doutrina do papel exclusivo existe para acabar com a ambiguidade «qual das linhas vale?».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campo profile_template_chosen está em NULL nas três bibliotecas, BLMF inclusive. Por isso o banner volta a cada login. Fazer o coletivo votar o perfil é um dos primeiros atos concretos de coordenação de vocês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Reflexo a instalar: «não estou vendo a aba» quase nunca é problema de permissão — é um eixo de perfil. Confira em /biblioteca antes de ligar para alguém.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Pegue um livro de verdade na sala e passe de mão em mão durante a explicação: «o que eu seguro é o exemplar; o que o Bakunin escreveu é a obra». A pergunta 2 é a que todo mundo esquece: a política de circulação é por exemplar.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níveis, não quatro. O acervo (holding) é o nível que todo mundo pula — e é ele que carrega o «só consulta», ou seja, é ele que decide se a ficha pública mostra «Reservar» ou «Pedir uma consulta».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biblioteca mantém soberania sobre OS SEUS exemplares: política de circulação, visibilidade, proveniência. Só a descrição bibliográfica é mutualizada. É isso que torna possível um catálogo coletivo sem centralização.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5 em 2 758 é real, verificado no banco em 01/09/2026 (lacuna EA-ACQ-1). O diagnóstico do projeto é explícito: «o que falta não é o campo, é o hábito». Vocês são exatamente quem pode virar esse jogo.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«caso BTL» das especificações, o caso fundador de todo o trabalho sobre exemplares. Pergunte: «vocês já têm essa situação na estante de vocês?». Quase sempre a resposta é 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12 tipos são selecionáveis em qualquer modo de ficha — só muda a profundidade dos campos. Insista no efêmero: é ele que distingue uma biblioteca militante de uma biblioteca municipal.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frase para repetir: mudar de modo não perde nada. Sem essa garantia, as pessoas ficam no modo Completo por medo e se afogam. O modo normal é o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CONV-EXEC-1 e CONV-EXEC-2. É o «cliqua, não vai quebrar nada» do lado da catalogação: o formulário nunca vai te punir. A contrapartida é a responsabilidade coletiva sobre as convenções — daí o Módulo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DOC-CONV-1. É o princípio que explica por que todas as convenções seguintes parecem «contraintuitivas» quando a pessoa vem de uma ficha de papel. Na ficha de papel, o dado e a apresentação eram a mesma coisa. Aqui não 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argumento decisivo é o da irreversibilidade da informação: caixa alta destrói informação, caixa natural não. Vale a pena dizer isso, porque é o argumento que convence quem foi formad(o/a/e) na ficha de papel.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é sempre: escrevo o ponto de acesso, e a exibição sai dele. Nunca digito a exibição e tento deduzir o ponto de acesso. Este slide prepara a correção mecânica das 68 fichas.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peça para decorar. Peça para saber que a tabela existe e onde encontrá-la. Na prática, 90% dos casos da BLMF são português e espanhol — estas duas linhas sim, precisam estar na ponta da língua.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«Senhor Filho não existe» é a frase que fixa a regra. Sobre o assistente: ele propõe, você confirma ou corrige. Confirmar no automático é o caminho mais curto para poluir o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regra catalográfica é uma decisão política. Entrar pelo nome de registro seria escrever o catálogo com o vocabulário da polícia. Entrar pelo nome militante e guardar o civil como variante preserva as duas coisas: o reconhecimento pelo movimento e o rastro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216 fichas do acervo real capitalizam palavras-ferramenta («Cinema E Anarquia», «Deus E O Estado»). É um artefato de title-casing automático aplicado a títulos em português. É o erro mais numeroso do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prática: se você se pegar mexendo no título para «arrumar a ordenação», pare. O título nunca é o lugar do conserto.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 EDTF foi descartada de propósito na v0.1: exigia aprender uma gramática. Aqui são dois inteiros e um seletor. Simples de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ainda não existe tabela de autoridade de coletividade nem de assunto. Seis organizações estão hoje alojadas na tabela de pessoas por falta de lugar melhor. É uma decisão em aberto (D7) — sabendo disso, evite criar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esta tabela sem culpa: os erros vêm de importações e de anos de trabalho de gente que fez o que pôde. O ponto é que agora existe uma convenção escrita, e é ela que impede a lista de crescer.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não é caprichosa: cada gesto depende do anterior. O tipo de material antes de tudo, porque ele muda o formulário. O rascunho salvo antes da capa, por causa do bug de colisão explicado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melhor exemplo de «não vai quebrar nada»: o software já tomou a pancada por nós uma vez e agora impede que ela se repita. Vale contar a história do bug — ela ensina a confiar nos botões desativados.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de privacidade não é paranoia abstrata: um pedido direto do navegador de uma biblioteca anarquista para um serviço externo revela padrões de interesse político. É por isso que tudo passa pelo servidor. Vale dizer isso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«Bloqueio que não é beco sem saída» é a fórmula. As três saídas estão sempre visíveis. Insistir: «Criar um exemplar aqui» é o gesto normal — não é um plano B, é o que a federação espera de você.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alguém perguntar «mas a capa da Amazon é mais bonita»: a resposta não é estética, é de segurança. Um pedido ao servidor da Amazon a partir do catálogo de uma biblioteca anarquista é um dado que a Amazon guarda.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Repetir: proveniência é do exemplar, não da obra. Dois exemplares do mesmo livro podem ter chegado por caminhos completamente diferentes, e é isso que interessa guardar.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um compromisso, não uma repreensão. Se as pessoas saírem da formação com só um hábito novo, que seja este: nenhum exemplar novo sem proveniência.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já o que existe e o que não existe: empréstimo, consulta e reserva estão em produção. PEB e compartilhamento digital estão escritos, não codados. Formar em cima de tela que não existe é a melhor forma de perder a confiança de quem aprende.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linha é importante politicamente. Muita gente entra num SIGB achando que agora TUDO tem de passar pelo sistema. Não tem. O sistema serve o coletivo, não o contrário.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cabeçalho nunca é escrito à mão: ele é deduzido da contagem das linhas. Se o cabeçalho parece errado, o problema está numa linha, não no cabeçalho. Este reflexo evita muitos falsos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o gesto ao vivo pelo menos duas vezes no encontro, com uma pessoa fictícia da blmf-teste. A memória do balcão é muscular, não teórica.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gesto verdadeiramente irreversível do módulo. Não é grave — o conserto existe — mas é trabalho a mais. Conferir o tombo antes de clicar é o hábito a instalar.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mais tolerante do sistema: dá para ir e voltar entre as três primeiras etapas quantas vezes for preciso. É o melhor terreno para as duas pessoas ganharem confiança no primeiro 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com todas as letras: esta tabela é para consultar, não para decorar. O objetivo é que quando a pessoa vir um botão ausente, ela saiba que é regra e não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hora de fim obrigatória vem de uma decisão de fundo: uma consulta sem fim declarado não é um compromisso, é uma promessa vaga. E impede detectar sobreposição.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negociação sem teto é uma escolha política: marcar hora com alguém não é um processo administrativo com prazo, é uma conversa. Quando três idas e vindas não resolvem, o certo é ligar — o software não substitui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«Retirada a combinar» é a etapa para quando a pessoa não tem agenda fixa — mas mesmo ela exige uma data de referência. É o que impede reservas fantasmas que ficam abertas seis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Marcar visualmente que este é um slide de gesto irreversível — fundo mais escuro, borda vermelha. Os slides irreversíveis do deck usam essa mesma marcação.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«Nunca há falha silenciosa» é uma promessa de projeto que vale repetir: se três de cinco passaram, a tela diz quais dois não passaram e por quê. Você nunca precisa adivinhar.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motivo dues_blocked é o mais delicado no balcão. Lembrar que a resposta certa nunca é «vou dar um jeito no sistema» — é conversar sobre a cotização, ou levar o caso para a coordenação.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Escrever à mão um e-mail que o sistema já manda é a fonte número um de mensagem contraditória para quem lê. Se você acha que falta um e-mail, é caso de abrir uma demanda, não de compensar à mão.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prometer o que não está verificado. Se a formação afirmar «as cobranças saem sozinhas» e elas não saírem, a confiança na ferramenta cai de uma vez. Melhor transformar isso numa tarefa concreta das duas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estas seis situações como perguntas antes de mostrar a resposta. É o formato que mais fixa. As seis seguintes estão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linha é a que mais gera pergunta. Melhor antecipar do que ser pega de surpresa no primeiro 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Transformar a frustração em contribuição: a folha de lacunas é o começo da participação delas no projeto, não só no uso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os quatro em voz alta. O P3 é o que mais surpreende quem vem de estruturas formais: aqui, soltar uma responsabilidade não precisa de autorização. É deliberado.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P8 é a proteção contra a burocratização. Se o software começar a ser tratado como autoridade, a ferramenta virou aparelho. Este slide existe para impedir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Verificado na base em 26/08/2026: o registro de auditoria existe e está sendo alimentado, os e-mails de equipe saem em cerca de dois segundos, as colunas de carência existem e as duas tarefas automáticas (carência de 7 dias, inatividade de 9 meses) estão ativas. As especificações que dizem o contrário estão desatualizadas. O que ainda não foi exercido em produção: «passo a mão», suspensão e pedido de retirada — o mecanismo existe, ninguém o usou ainda. Vocês serão as primeiras.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mudou duas vezes. Em agosto ele constatava que a promoção a coordenador escapava à colegialidade: uma pessoa clicava, e estava feito. Isso foi corrigido e está em produção. Depois veio a questão da Terra Livre, coletivo horizontal onde a etapa bibliotecári(o/a/e) não corresponde a nada: daí o salto colegial, opção desativada por padrão que cada coletivo ativa para si. A lição a passar não é técnica: o software executou uma decisão do coletivo, ele não a impôs nem a bloqueou.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uma proteção contra o esgotamento. Vale dizer em voz alta: nesta biblioteca, largar uma responsabilidade é previsto, é fácil e não é traição. Muita gente adoece por achar que não pode sair.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Sublinhar o texto do e-mail: ele foi escrito para não jogar o software entre as pessoas. O software não expulsa ninguém; o coletivo expulsa, e o software registra.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«escreva como se fosse lido em assembleia» é a mais útil deste módulo. O registro imutável é uma garantia contra o abuso — e uma responsabilidade sobre o que se escreve nele.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diz muito sobre a filosofia do projeto. A alternativa técnica seria fácil (bloquear a saída). Foi recusada por razão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condições explicam quase todas as recusas de balcão. Quando algo é recusado, percorra as cinco em voz alta com a pessoa — em geral a resposta aparece na segunda ou na quarta.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político do módulo. A validação física parece um detalhe administrativo e é, na verdade, a principal medida de segurança da rede. Explicar isso muda completamente a forma como as pessoas a executam.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«Identifica mas não autentica» é a formulação exata. Vale explicar a diferença: identificar é dizer quem você é; autenticar é provar. O cartão faz o primeiro, nunca o segundo — por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vale a comparação com bibliotecas públicas que guardam histórico por anos «para estatística». Numa biblioteca militante isso é passivo, não patrimônio. A retenção curta é política de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no «não é plantão»: a rede reconhece explicitamente o risco de esgotamento de quem administra, e ninguém é obrigado a atender tudo. Escrever isso na cultura desde o começo evita ressentimento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preciso decorar: é preciso saber que o registro existe e que ele tem precedência sobre qualquer documento de trabalho. Quando uma especificação contradizer o registro, o registro ganha.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tão político quanto técnico. Quem coordena tende a se sentir responsável 24 horas por dia. Dizer explicitamente que nada aqui justifica uma noite em claro é parte do cuidado com quem coordena.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Ensinar a reportar é mais útil do que ensinar a diagnosticar. Um bom relato de erro poupa horas; um diagnóstico errado custa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sobre o backup interrompido é contraintuitivo e vale insistir: quando o backup para porque encontrou algo novo, ele está protegendo os dados, não falhando.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Terminar com a frase sobre a AGPL: a segurança do projeto não é a existência do Xavier, é a licença e os espelhos. Isso responde à pergunta que sempre 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círculo aberto no segundo slide. Fazer as duas pessoas lerem a lista em voz alta. Nove gestos são decoráveis; um software inteiro não 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prática: se vocês propuserem um texto novo, proponham em português e sinalizem que ele precisa dos outros nove. Nunca publiquem um texto que exista só em português.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o ritual, as oito semanas viram uso rotineiro sem aprendizado. Meia hora marcada na agenda, com as três perguntas escritas, é o que transforma prática em autonomia.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convidando as duas pessoas a se tornarem contribuintes, não só usuárias. É o objetivo declarado do projeto: deixar de ser um trabalho solitário.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"/>
          </a:xfrm>
          <a:prstGeom prst="roundRect">
            <a:avLst/>
          </a:prstGeom>
          <a:solidFill>
            <a:srgbClr val="0A050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ANARBIB · BIBLIOTECA LIBERTÁRIA MAXWELL FERREIRA · BELÉM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Cliqua,</a:t>
            </a:r>
            <a:endParaRPr lang="en-US" sz="6000" dirty="0"/>
          </a:p>
          <a:p>
            <a:pPr marL="0" indent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vai quebrar nada!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B39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de coordenação — catalogar, fazer circular, coordenar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4709160"/>
            <a:ext cx="11057839" cy="1097280"/>
          </a:xfrm>
          <a:prstGeom prst="roundRect">
            <a:avLst>
              <a:gd name="adj" fmla="val 583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841248" y="4882896"/>
            <a:ext cx="2398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5120640"/>
            <a:ext cx="23987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nova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BLMF e da rede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05708" y="4882896"/>
            <a:ext cx="2398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605708" y="5120640"/>
            <a:ext cx="23987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encontros de 2h15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prática entre eles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4882896"/>
            <a:ext cx="2398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5120640"/>
            <a:ext cx="23987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ler, clicar, errar,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34627" y="4882896"/>
            <a:ext cx="2398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134627" y="5120640"/>
            <a:ext cx="23987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teste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blmf-teste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coordenação · BLMF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gente pode prometer isso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7450" cy="2249424"/>
          </a:xfrm>
          <a:prstGeom prst="roundRect">
            <a:avLst>
              <a:gd name="adj" fmla="val 2846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68096" y="19842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96312"/>
            <a:ext cx="312511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botão errado não aparece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795016"/>
            <a:ext cx="312511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transições impossíveis não são exibidas. As que estão bloqueadas por uma regra vêm desativadas, com o motivo no tooltip. Você não clica para descobrir uma recusa.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2122" y="1783080"/>
            <a:ext cx="3527450" cy="2249424"/>
          </a:xfrm>
          <a:prstGeom prst="roundRect">
            <a:avLst>
              <a:gd name="adj" fmla="val 2846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33290" y="19842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53329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33290" y="2496312"/>
            <a:ext cx="312511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tudo volta atrás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33290" y="2795016"/>
            <a:ext cx="312511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um horário e repropor, voltar de «parcialmente devolvido» para «emprestado», levantar uma suspensão, mudar de modo de ficha: o caminho de volta existe e está previsto.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1783080"/>
            <a:ext cx="3527450" cy="2249424"/>
          </a:xfrm>
          <a:prstGeom prst="roundRect">
            <a:avLst>
              <a:gd name="adj" fmla="val 2846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298485" y="19842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8298485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98485" y="2496312"/>
            <a:ext cx="312511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banco recusa o impossível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795016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dois fluxos ativos no mesmo exemplar, nunca dois empréstimos abertos no mesmo item, nunca um agendamento sem data. O sistema diz não antes de você errar.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22960" y="42062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a promessa tem limites, e eles têm nome. Nove gestos são irreversíveis. Estão sinalizados em cada módulo com um ponto vermelho, e recapitulados no fim da formação.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39496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8FB0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86384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Reversível — clica à vontade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95344" y="539496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E0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4114800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— verifique antes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539496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E458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7260336" y="5349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Irreversível — decida em coletivo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coordenação · BLMF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AnarBib em cinco números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SIGB livre, escrito para bibliotecas militantes — e não adaptado de um software de biblioteca municipal.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58720" cy="1737360"/>
          </a:xfrm>
          <a:prstGeom prst="roundRect">
            <a:avLst>
              <a:gd name="adj" fmla="val 36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211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035808"/>
            <a:ext cx="2119808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na rede</a:t>
            </a:r>
            <a:endParaRPr lang="en-US" sz="1150" dirty="0"/>
          </a:p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BLMF · Emma Goldman · Terra Livre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9968" y="2286000"/>
            <a:ext cx="2558720" cy="1737360"/>
          </a:xfrm>
          <a:prstGeom prst="roundRect">
            <a:avLst>
              <a:gd name="adj" fmla="val 36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619424" y="2395728"/>
            <a:ext cx="211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2 659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9424" y="3035808"/>
            <a:ext cx="2119808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catalogadas</a:t>
            </a:r>
            <a:endParaRPr lang="en-US" sz="1150" dirty="0"/>
          </a:p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setembro de 2026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3008" y="2286000"/>
            <a:ext cx="2558720" cy="1737360"/>
          </a:xfrm>
          <a:prstGeom prst="roundRect">
            <a:avLst>
              <a:gd name="adj" fmla="val 36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452464" y="2395728"/>
            <a:ext cx="211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52464" y="3035808"/>
            <a:ext cx="2119808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com RLS</a:t>
            </a:r>
            <a:endParaRPr lang="en-US" sz="1150" dirty="0"/>
          </a:p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protegida no banco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66047" y="2286000"/>
            <a:ext cx="2558720" cy="1737360"/>
          </a:xfrm>
          <a:prstGeom prst="roundRect">
            <a:avLst>
              <a:gd name="adj" fmla="val 36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9285503" y="2395728"/>
            <a:ext cx="211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285503" y="3035808"/>
            <a:ext cx="2119808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 de interface</a:t>
            </a:r>
            <a:endParaRPr lang="en-US" sz="1150" dirty="0"/>
          </a:p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entregues sempre juntos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480560"/>
            <a:ext cx="11057839" cy="1005840"/>
          </a:xfrm>
          <a:prstGeom prst="roundRect">
            <a:avLst>
              <a:gd name="adj" fmla="val 5455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22960" y="448056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AGPL-3.0, código no Codeberg, dados no Supabase. Nada aqui pertence a uma empresa: se o AnarBib parar amanhã, a biblioteca continua — o código e os backups são reconstituíveis por qualquer pessoa.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coordenação · BLMF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fim, vocês fazem isto sozinh(o/a/e)s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27450" cy="2057400"/>
          </a:xfrm>
          <a:prstGeom prst="roundRect">
            <a:avLst>
              <a:gd name="adj" fmla="val 311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68096" y="193852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BIBLIOTECÁRI(O/A)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176272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Catalogar uma obra do zero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67356"/>
            <a:ext cx="3125114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tipo de material, o modo da ficha, aplicar as convenções de nome e de título, anexar um exemplar com tombo e proveniência.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2122" y="1737360"/>
            <a:ext cx="3527450" cy="2057400"/>
          </a:xfrm>
          <a:prstGeom prst="roundRect">
            <a:avLst>
              <a:gd name="adj" fmla="val 311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33290" y="193852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BIBLIOTECÁRI(O/A)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33290" y="2176272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Conduzir os quatro fluxos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33290" y="2467356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Empréstimo, consulta local, reserva e — quando existir — PEB. Saber qual escolher, e o gesto certo em cada situação de balcão.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7317" y="1737360"/>
            <a:ext cx="3527450" cy="2057400"/>
          </a:xfrm>
          <a:prstGeom prst="roundRect">
            <a:avLst>
              <a:gd name="adj" fmla="val 311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98485" y="193852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98485" y="2176272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Cuidar da equipe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98485" y="2467356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Cooptar, passar a mão, pedir uma retirada com carência, suspender em caso de urgência — e saber o que o software faz sozinho.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32504"/>
            <a:ext cx="3527450" cy="2057400"/>
          </a:xfrm>
          <a:prstGeom prst="roundRect">
            <a:avLst>
              <a:gd name="adj" fmla="val 311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68096" y="4233672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471416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Acolher leitor(a/e)s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762500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validar contas, entender a validação física, respeitar o direito de ocultar e apagar os próprios rastros.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2122" y="4032504"/>
            <a:ext cx="3527450" cy="2057400"/>
          </a:xfrm>
          <a:prstGeom prst="roundRect">
            <a:avLst>
              <a:gd name="adj" fmla="val 311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4533290" y="4233672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33290" y="4471416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a biblioteca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533290" y="4762500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os quatro eixos do perfil, propor uma transição, entender o que muda na tela quando um eixo muda.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97317" y="4032504"/>
            <a:ext cx="3527450" cy="2057400"/>
          </a:xfrm>
          <a:prstGeom prst="roundRect">
            <a:avLst>
              <a:gd name="adj" fmla="val 311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298485" y="4233672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98485" y="4471416"/>
            <a:ext cx="312511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quando NÃO usar o software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8298485" y="4998720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que se decide em assembleia, o que se resolve por conversa, e o que o SIGB simplesmente não cobre ainda.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coordenação · BLMF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módulos, sete encontros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se aprende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Achar-se no 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duas casas, as rotas, os três papéis, o perfil da BLMF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encontro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 o que se cataloga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Obra, exemplar, camadas, tipos de material, modos da ficha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encontro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Catalogar bem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sete convenções catalográficas do AnarBib e os dez erros clássicos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2º encontro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Catalogar na prática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percurso completo, ISBN, capas, aquisição e proveniência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3º encontro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fluxos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Empréstimo, consulta, reserva, renovação, e-mails e crons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4º e 5º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Papéis, cooptação, acolhimento, LGPD, rede federativa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6º encontro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Manter e decidir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quebra, backups, gestos irreversíveis, plano de autonomia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7º encontro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81–89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29200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3"/>
          <p:cNvSpPr txBox="1"/>
          <p:nvPr/>
        </p:nvSpPr>
        <p:spPr>
          <a:xfrm>
            <a:off x="822960" y="5029200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noites de 2h15, uma por módulo — o módulo 4 em duas. Entre elas, a prática real na BLMF, com um ritual semanal de meia hora. O plano está no último slide.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coordenação · BLMF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548640"/>
            <a:ext cx="3291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ZERO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11096"/>
            <a:ext cx="7498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Achar-se no software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88499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2811272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casas.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delibera e onde se trabalha — e por que não é a mesma tela.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49992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3426206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papéis.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reader, librarian, coordenador: quem pode o quê, e o que é reservado à coordenação.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11486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86384" y="4041140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da biblioteca.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eixos decidem quais abas existem. A BLMF está em full_sigb.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72979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86384" y="4656074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reflexo de segurança.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 botão desativado antes de procurar um culpado.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~25 min · o passeio guiado fica como exercício para fazer sozinh(o/a/e)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· Achar-se no software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— A ARQUITETURA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casas, e nunca se confundem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Doutrina do projeto: deliberação política de um lado, trabalho operacional do outro.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46040" cy="3200400"/>
          </a:xfrm>
          <a:prstGeom prst="roundRect">
            <a:avLst>
              <a:gd name="adj" fmla="val 2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41248" y="2212848"/>
            <a:ext cx="479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/biblioteca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151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vida coletiva da biblioteca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3101023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60704" y="303580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pública: nome, logo, contato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430207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060704" y="336499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Regimento e políticas de empréstimo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3759391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60704" y="369417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equipe — cooptar, passar a mão, suspender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408857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1060704" y="402336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transições — mudar o perfil da biblioteca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" y="441775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1060704" y="4352544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cotização e de retenção de dados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2011680"/>
            <a:ext cx="5346040" cy="3200400"/>
          </a:xfrm>
          <a:prstGeom prst="roundRect">
            <a:avLst>
              <a:gd name="adj" fmla="val 2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553048" y="2212848"/>
            <a:ext cx="479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/painel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26151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de todo dia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53048" y="3101023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6772504" y="303580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trabalho-do-dia — o que espera por você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53048" y="3430207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772504" y="336499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Empréstimos: registrar, devolver, prorrogar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53048" y="3759391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6772504" y="369417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locais: preparar, agendar, realizar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53048" y="408857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6772504" y="402336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Reservas: acompanhar até a retirada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53048" y="441775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772504" y="4352544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em espera: validar fisicamente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prática: se a pergunta é «o que a gente decidiu?», é /biblioteca. Se é «o que eu faço com esta pessoa na minha frente?», é /painel.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· Achar-se no software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— ORIENTAÇÃO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das rotas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entra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/painel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balcão. Empréstimos, consultas, reservas, contas em espera.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librarian, coordenador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/biblioteca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casa coletiva. Identidade, equipe, perfil, transições.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leitura: staff · ação: coordenador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/conta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conta pessoal de cada leitor(a/e). Você nunca entra na de outra pessoa.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pessoa, a sua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/rede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rede AnarBib: bibliotecas, administrador(a/e)s, pedidos de adesão.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 visibilidade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/livro/:id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ficha pública de uma obra. Rota estável — pode ser divulgada.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 / rede / privado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/autor/:id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ficha de autoridade. Rota estável.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/criar-conta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qualquer pessoa se inscreve, uma única vez, sempre como leitor(a/e).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93776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se inscreve duas vezes. Virar equipe não é uma nova inscrição: é cooptação, feita na conta que já existe, pelo ID público. Quem se inscrever de novo só cria uma segunda conta — e um problema.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· Achar-se no software</a:t>
            </a:r>
            <a:endParaRPr lang="en-US" sz="900" dirty="0"/>
          </a:p>
        </p:txBody>
      </p:sp>
      <p:sp>
        <p:nvSpPr>
          <p:cNvPr id="4" name="Text 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— PAPÉIS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papéis locais, e só três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antigo papel administrador local foi removido em 13/05/2026. Não existe mais.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27450" cy="2468880"/>
          </a:xfrm>
          <a:prstGeom prst="roundRect">
            <a:avLst>
              <a:gd name="adj" fmla="val 259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235000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587752"/>
            <a:ext cx="312511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Leitor(a/e)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01696"/>
            <a:ext cx="312511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catálogo conforme a visibilidade, pega emprestado, reserva, consulta na sala, edita os próprios dados, pede migração ou apagamento da conta. Não vê o registro da equipe.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2122" y="2148840"/>
            <a:ext cx="3527450" cy="2468880"/>
          </a:xfrm>
          <a:prstGeom prst="roundRect">
            <a:avLst>
              <a:gd name="adj" fmla="val 259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533290" y="235000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33290" y="2587752"/>
            <a:ext cx="312511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Bibliotecári(o/a/e)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33290" y="2901696"/>
            <a:ext cx="312511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reader, mais: empréstimos, reservas, devoluções, validação de inscrições, edição do catálogo, dados pessoais d(o/a/e)s leitor(a/e)s. Na aba equipe: só leitura — e «passo a mão» na própria linha.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2148840"/>
            <a:ext cx="3527450" cy="2468880"/>
          </a:xfrm>
          <a:prstGeom prst="roundRect">
            <a:avLst>
              <a:gd name="adj" fmla="val 259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8298485" y="235000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98485" y="2587752"/>
            <a:ext cx="312511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Coordenador(a/e)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98485" y="2901696"/>
            <a:ext cx="312511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librarian, mais: identidade pública, configuração, regras de cotização, promover e retirar pessoas, suspender, propor transições de perfil, parcerias e círculos federativos.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89204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Doutrina do papel exclusivo (20/05/2026): uma pessoa tem UM só papel ativo por biblioteca. Promover fecha a linha de baixo; rebaixar reativa a de baixo. O histórico fica nas linhas fechadas e no registro de auditoria.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· Achar-se no software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— PERFIL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eixos decidem o que existe na tela</a:t>
            </a:r>
            <a:endParaRPr lang="en-US" sz="3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possíveis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BLMF está 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muda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catalog_mode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local_only · network_published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network_published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fichas são visíveis para a rede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circulation_mode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· informal · full_sigb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full_sigb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as abas de fluxo existem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network_mode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· observer · federated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nas ferramentas de rede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governance_mode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· staff_roles · full_governance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Carência, suspensão, auditoria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reader_validation_mode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presential · remote · 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 a BLMF NÃO exige validação presencial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reader_cards_enabled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· 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Cartão de leitor(a/e) desligado na BLMF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membership_enabled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· 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abas de contribuição nem cotização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24032"/>
            <a:ext cx="11057839" cy="774954"/>
          </a:xfrm>
          <a:prstGeom prst="roundRect">
            <a:avLst>
              <a:gd name="adj" fmla="val 7080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4824032"/>
            <a:ext cx="10545775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perfil não se muda com um clique. Passa pela aba transições: proposta (com motivação de 5 caracteres no mínimo) → votos da equipe → execução. Mudar os quatro eixos = quatro propostas = oito semanas, no mínimo.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81866"/>
            <a:ext cx="11057839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8"/>
              </a:lnSpc>
              <a:buNone/>
            </a:pPr>
            <a:r>
              <a:rPr lang="en-US" sz="12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verificados na base em 26/08/2026. O banner de perfil reaparece a cada login em /biblioteca enquanto o coletivo não votar conscientemente: não é um bug, é um convite a decidir.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· Achar-se no software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— CONSEQUÊNCIAS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aba sumiu? Provavelmente é um eixo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abas não são escondidas por permissão: elas simplesmente não existem se o eixo não as pede.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existe se…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/painel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circulation_mode = full_sigb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emprestimos-lote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/painel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circulation_mode = full_sigb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consultas-locais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/painel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circulation_mode = informal ou full_sigb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emprestimos-livro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/painel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circulation_mode = informal ou full_sigb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contribuicoes / cotizações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/painel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membership_enabled = sim E circulation_mode ≠ off — hoje DESLIGADO na BLMF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transicoes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/biblioteca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governance_mode = staff_roles ou full_governance E papel coordenador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(equipe)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/biblioteca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governance_mode ≠ informal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29200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822960" y="5029200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aba em que você estava deixa de existir, o software não te deixa numa tela vazia: ele volta sozinho para trabalho-do-dia (no painel) ou perfil (na conta).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· Achar-se no software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NA MASSA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B0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0 — passeio guiado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biblioteca de teste blmf-teste. Nada do que você fizer aqui toca o acervo real da BLMF.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200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86384" y="21396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em /painel e listar em voz alta as abas visíveis.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3898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86384" y="2478024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em /biblioteca e achar a aba equipe. Ler a lista de pessoas sem clicar em nada.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4800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86384" y="2987040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banner de perfil e ler os quatro eixos.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863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86384" y="3325368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uma ficha em /livro/:id e voltar. Reparar que a rota é estável.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24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86384" y="36636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o mouse sobre um botão desativado e ler o tooltip.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6298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86384" y="4002024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numa folha as três perguntas que ficaram.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773936"/>
            <a:ext cx="4949647" cy="2886456"/>
          </a:xfrm>
          <a:prstGeom prst="roundRect">
            <a:avLst>
              <a:gd name="adj" fmla="val 2218"/>
            </a:avLst>
          </a:prstGeom>
          <a:solidFill>
            <a:srgbClr val="E9DCD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949440" y="2048256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4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 SE…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2420112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168896" y="2359152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dizer, sem olhar, o que fica em /painel e o que fica em /biblioteca.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94741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168896" y="2886456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achou pelo menos um botão desativado e sabe por que ele está desativado.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3474720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168896" y="3413760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em qual valor está cada um dos quatro eixos da BLMF.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002024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7168896" y="3941064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três perguntas escritas — elas viram a pauta do fim do encontro.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989576"/>
            <a:ext cx="11057839" cy="552069"/>
          </a:xfrm>
          <a:prstGeom prst="roundRect">
            <a:avLst>
              <a:gd name="adj" fmla="val 9938"/>
            </a:avLst>
          </a:prstGeom>
          <a:solidFill>
            <a:srgbClr val="E4D6D1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822960" y="4989576"/>
            <a:ext cx="10545775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destes seis gestos muda um dado. Clicar em tudo é literalmente o exercício.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· Achar-se no software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548640"/>
            <a:ext cx="3291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UM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11096"/>
            <a:ext cx="7498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o que se cataloga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88499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2811272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e exemplar.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que resolve 80% das dúvidas de catalogação.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7818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3204464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ficha, N exemplares.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modelo é federativo — e o que isso muda no seu gesto.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89312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86384" y="3819398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 tipos de material.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Livro, periódico, zine, cartaz, panfleto, dossiê… tudo entra.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5080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86384" y="4434332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modos de ficha.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Simples, Avançado, Completo — e a garantia de que mudar de modo não perde nada.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~50 min · termina catalogando um zine em modo Simples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O BÁSICO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perguntas antes de digitar qualquer coisa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6040" cy="2286000"/>
          </a:xfrm>
          <a:prstGeom prst="roundRect">
            <a:avLst>
              <a:gd name="adj" fmla="val 28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975104"/>
            <a:ext cx="424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obra já existe na rede?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60320"/>
            <a:ext cx="479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sim, você não cria ficha nenhuma: você anexa um exemplar à ficha que já existe. A obra é uma só para toda a rede.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46040" cy="2286000"/>
          </a:xfrm>
          <a:prstGeom prst="roundRect">
            <a:avLst>
              <a:gd name="adj" fmla="val 28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5304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01688" y="1975104"/>
            <a:ext cx="388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objeto vai circular como?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79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Emprestável, só consulta, ou guardado no arquivo? Isso não se decide na obra: decide-se no exemplar, um por um.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34340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43434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10"/>
              </a:lnSpc>
              <a:buNone/>
            </a:pPr>
            <a:r>
              <a:rPr lang="en-US" sz="17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obra é o texto. O exemplar é o objeto que está na estante, com seu tombo, sua etiqueta, seus rasgos, sua história de doação.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4864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confunde os dois acaba criando duas fichas para o mesmo livro — o erro mais caro de corrigir depois.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MODELO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camadas, de cima para baixo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57839" cy="1060704"/>
          </a:xfrm>
          <a:prstGeom prst="roundRect">
            <a:avLst>
              <a:gd name="adj" fmla="val 603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86384" y="2066544"/>
            <a:ext cx="128016" cy="566928"/>
          </a:xfrm>
          <a:prstGeom prst="roundRect">
            <a:avLst>
              <a:gd name="adj" fmla="val 357143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133856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 / ficha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3774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 books — rascunho em book_drafts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681728" y="2011680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autoria, ano, editora, idioma, ISBN, assuntos. Catalogada UMA vez para toda a rede.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95264" y="2907792"/>
            <a:ext cx="201168" cy="164592"/>
          </a:xfrm>
          <a:prstGeom prst="down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66928" y="3163824"/>
            <a:ext cx="11057839" cy="1060704"/>
          </a:xfrm>
          <a:prstGeom prst="roundRect">
            <a:avLst>
              <a:gd name="adj" fmla="val 603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86384" y="3401568"/>
            <a:ext cx="128016" cy="566928"/>
          </a:xfrm>
          <a:prstGeom prst="roundRect">
            <a:avLst>
              <a:gd name="adj" fmla="val 357143"/>
            </a:avLst>
          </a:prstGeom>
          <a:solidFill>
            <a:srgbClr val="E0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1133856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Acervo (holding)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371246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 book_holdings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3346704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 BLMF possui este título.» É a camada de agrupamento entre a obra e os objetos.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95264" y="4242816"/>
            <a:ext cx="201168" cy="164592"/>
          </a:xfrm>
          <a:prstGeom prst="down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66928" y="4498848"/>
            <a:ext cx="11057839" cy="1060704"/>
          </a:xfrm>
          <a:prstGeom prst="roundRect">
            <a:avLst>
              <a:gd name="adj" fmla="val 603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86384" y="4736592"/>
            <a:ext cx="128016" cy="566928"/>
          </a:xfrm>
          <a:prstGeom prst="roundRect">
            <a:avLst>
              <a:gd name="adj" fmla="val 357143"/>
            </a:avLst>
          </a:prstGeom>
          <a:solidFill>
            <a:srgbClr val="8FB0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133856" y="4654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Exemplar / item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504748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 exemplares — rascunho em exemplar_drafts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4681728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físico: tombo (obrigatório), referência local, localização na estante. Repete-se: um por objeto real.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1"/>
              </a:lnSpc>
              <a:buNone/>
            </a:pPr>
            <a:r>
              <a:rPr lang="en-US" sz="115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do projeto: DOC-MODELE-1. É esta a ordem que vale — não confundir com o vocabulário de outros softwares de biblioteca.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FEDERAÇÃO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ficha compartilhada, N exemplares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coração político do modelo: catalogar uma vez, para todo mundo.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0" y="196596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4206240" y="2084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Estado e a anarquia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única na rede AnarBib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2834640"/>
            <a:ext cx="0" cy="685800"/>
          </a:xfrm>
          <a:prstGeom prst="line">
            <a:avLst/>
          </a:prstGeom>
          <a:noFill/>
          <a:ln w="1270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097280" y="3520440"/>
            <a:ext cx="292608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128016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BLMF · Belém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exemplares emprestáveis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2834640"/>
            <a:ext cx="0" cy="685800"/>
          </a:xfrm>
          <a:prstGeom prst="line">
            <a:avLst/>
          </a:prstGeom>
          <a:noFill/>
          <a:ln w="1270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617720" y="3520440"/>
            <a:ext cx="292608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Emma Goldman · Salvador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exemplar só consulta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2834640"/>
            <a:ext cx="3520440" cy="685800"/>
          </a:xfrm>
          <a:prstGeom prst="line">
            <a:avLst/>
          </a:prstGeom>
          <a:noFill/>
          <a:ln w="1270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138160" y="3520440"/>
            <a:ext cx="292608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32104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 Livre · São Paulo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exemplar no arquivo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25780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822960" y="52578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prática: quando você anexa um exemplar a uma ficha existente, você NUNCA reenvia a capa nem reescreve o título. A capa pertence à ficha compartilhada. Você só descreve o seu objeto.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O EXEMPLAR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exemplar carrega três coisas ao mesmo tempo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27450" cy="2286000"/>
          </a:xfrm>
          <a:prstGeom prst="roundRect">
            <a:avLst>
              <a:gd name="adj" fmla="val 28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68096" y="216712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404872"/>
            <a:ext cx="312511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exemplar circula, e quando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932176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item_id que aparece nas linhas de empréstimo, de reserva e de consulta. Sem ele, não dá para saber qual dos quatro exemplares está na mão de quem.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2122" y="1965960"/>
            <a:ext cx="3527450" cy="2286000"/>
          </a:xfrm>
          <a:prstGeom prst="roundRect">
            <a:avLst>
              <a:gd name="adj" fmla="val 28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33290" y="216712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33290" y="2404872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este objeto veio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33290" y="2695956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aquisição, data, nota livre, biblioteca ou pessoa de origem. Esta doação precisa, esta troca precisa — no exemplar, nunca na obra.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7317" y="1965960"/>
            <a:ext cx="3527450" cy="2286000"/>
          </a:xfrm>
          <a:prstGeom prst="roundRect">
            <a:avLst>
              <a:gd name="adj" fmla="val 28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98485" y="2167128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98485" y="2404872"/>
            <a:ext cx="312511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autoriza, e quem o vê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98485" y="2932176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circulação (emprestável, só consulta) e visibilidade (público, rede, staff_only). É aqui que se decide o que é arquivo.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1772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você só preenche o tombo e a estante, o exemplar existe mas não diz nada. As três camadas juntas são o que transforma uma pilha de livros num acervo.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6235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na rede: 5 exemplares em 2 758 têm dado de aquisição. O campo existe — falta o hábito. É um dos objetivos concretos desta formação.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— O CASO FUNDADOR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exemplares, duas políticas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real que obrigou o AnarBib a ter três camadas no exemplar.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572436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2267712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Ex. 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8096" y="2651760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68096" y="26517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emprestavel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3054096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68096" y="3054096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529584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Doação, 2021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95396" y="2103120"/>
            <a:ext cx="2572436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3596564" y="2267712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Ex. 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96564" y="2651760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3596564" y="26517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emprestavel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96564" y="3054096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3596564" y="3054096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596564" y="3529584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Compra, 2023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3864" y="2103120"/>
            <a:ext cx="2572436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425032" y="2267712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Ex. 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25032" y="2651760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6425032" y="26517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25032" y="3054096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425032" y="3054096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25032" y="3529584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com a BTL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331" y="2103120"/>
            <a:ext cx="2572436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9253499" y="2267712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Ex. 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253499" y="2651760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9253499" y="26517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53499" y="3054096"/>
            <a:ext cx="217010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9253499" y="3054096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staff_only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53499" y="3529584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Depósito, frágil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52628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822960" y="45262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só ficha, quatro objetos, três destinos diferentes. Nenhum software que descreve a circulação no nível da obra consegue representar isso — e é exatamente a situação normal de uma biblioteca militante.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6235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tela: a política é escolhida no cartão de cada exemplar, na aba Exemplares da ficha. Nunca no cabeçalho da obra.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— TIPOS DE MATERIAL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Doze tipos, e o efêmero entra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tipo é o PRIMEIRO gesto: é ele que decide quais campos aparecem.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49808" y="2249424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2374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6252" y="2194560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569132" y="2249424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Periódico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69132" y="252374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05576" y="2194560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388456" y="2249424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Panfleto / volante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388456" y="252374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panfleto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24899" y="2194560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9207779" y="2249424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Cartaz / lambe-lambe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207779" y="252374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cartaz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980944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749808" y="3035808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31012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6252" y="2980944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3569132" y="3035808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Dossiê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569132" y="331012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05576" y="2980944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388456" y="3035808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Áudio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388456" y="331012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24899" y="2980944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9207779" y="3035808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Audiovisual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207779" y="331012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audiovisual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767328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749808" y="38221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 digital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09651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recurso_digital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6252" y="3767328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3569132" y="38221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569132" y="409651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05576" y="3767328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6388456" y="38221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Artigo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388456" y="409651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artigo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24899" y="3767328"/>
            <a:ext cx="2599868" cy="640080"/>
          </a:xfrm>
          <a:prstGeom prst="roundRect">
            <a:avLst>
              <a:gd name="adj" fmla="val 10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 txBox="1"/>
          <p:nvPr/>
        </p:nvSpPr>
        <p:spPr>
          <a:xfrm>
            <a:off x="9207779" y="382219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207779" y="409651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relatorio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4892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vermelho: material efêmero militante. Entra no catálogo por escolha política — é frequentemente a única cópia que existe.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66928" y="5349240"/>
            <a:ext cx="11057839" cy="774954"/>
          </a:xfrm>
          <a:prstGeom prst="roundRect">
            <a:avLst>
              <a:gd name="adj" fmla="val 7080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 txBox="1"/>
          <p:nvPr/>
        </p:nvSpPr>
        <p:spPr>
          <a:xfrm>
            <a:off x="822960" y="5349240"/>
            <a:ext cx="10545775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um erro de natureza já presente no banco: um periódico é uma OBRA, não uma coletividade. «Le Monde Diplomatique» está hoje, por engano, na tabela de autoridades.</a:t>
            </a:r>
            <a:endParaRPr lang="en-US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— MODO DA FICHA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Simples, Avançado, Completo</a:t>
            </a:r>
            <a:endParaRPr lang="en-US" sz="3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gesto de todo dia. Um zine, um panfleto, um livro sem ISBN.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material · título (obrigatório) · autoria · ano · editora · idioma · CDD · circulação local padrão · capa · ISBN/ISSN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a obra merece descrição, ou quando há coleção.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subtítulo · edição · coleção/série · local de publicação · páginas · autorias tipadas · assuntos · notas · aquisição básica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 patrimonial, tese, material que vai ser colhido por outra rede.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zonas ISBD (geradas) · marc_json · VIAF/ISNI/Wikidata · subformulários materiais · proveniência completa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4632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48463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ouro: mudar de modo NUNCA perde nada. Um campo escondido guarda o valor. Muda só a profundidade da ficha, não o dado salvo.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8521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seletor fica no topo da página, sob o rótulo «Modo da ficha». Sua escolha fica guardada no navegador — cada pessoa tem a sua.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— DOUTRINA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só campo é obrigatório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6040" cy="2011680"/>
          </a:xfrm>
          <a:prstGeom prst="roundRect">
            <a:avLst>
              <a:gd name="adj" fmla="val 3182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86968" y="1965960"/>
            <a:ext cx="470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724912"/>
            <a:ext cx="470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campo obrigatório da ficha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291840"/>
            <a:ext cx="470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tombo, obrigatório no exemplar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46040" cy="2011680"/>
          </a:xfrm>
          <a:prstGeom prst="roundRect">
            <a:avLst>
              <a:gd name="adj" fmla="val 318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53048" y="201168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outra validação dura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468880"/>
            <a:ext cx="479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esquecimento: é decisão. Uma biblioteca militante não pode se dar ao luxo de uma ficha que não sai porque uma regra catalográfica não foi satisfeita.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16052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860"/>
              </a:lnSpc>
              <a:buNone/>
            </a:pPr>
            <a:r>
              <a:rPr lang="en-US" sz="22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«Assistir, jamais impor. Sinalizar, jamais bloquear.»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25780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Consequência: o software vai te avisar, te propor, te sugerir uma forma normalizada — e vai aceitar a sua se você insistir. A qualidade do catálogo vem do hábito coletivo, não da coerção do formulário. É por isso que existe o Módulo 2.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NA MASSA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B0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1 — catalogar um zine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modo Simples, na blmf-teste. Pegue um zine real da estante, com ele na mão.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200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86384" y="21396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tipo de material: zine. Reparar nos campos que mudam.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3898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86384" y="2478024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só o título. Salvar o rascunho.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87731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86384" y="2816352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para o modo Avançado. Verificar que o título continua lá.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1564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86384" y="3154680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para Simples. Verificar de novo.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55396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86384" y="3493008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autoria, ano e idioma.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9229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86384" y="383133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exemplar com tombo e localização na estante.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23062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86384" y="4169664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política de circulação do exemplar.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1773936"/>
            <a:ext cx="4949647" cy="2886456"/>
          </a:xfrm>
          <a:prstGeom prst="roundRect">
            <a:avLst>
              <a:gd name="adj" fmla="val 2218"/>
            </a:avLst>
          </a:prstGeom>
          <a:solidFill>
            <a:srgbClr val="E9DCD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949440" y="2048256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4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 SE…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2420112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168896" y="2359152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existe com um só campo preenchido, sem nenhum erro na tela.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94741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168896" y="2886456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viu com os próprios olhos que mudar de modo não apagou nada.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3474720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7168896" y="3413760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exemplar tem tombo e você sabe dizer se ele é emprestável ou de consulta.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4002024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7168896" y="3941064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explicar a diferença entre o que digitou na obra e o que digitou no exemplar.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989576"/>
            <a:ext cx="11057839" cy="552069"/>
          </a:xfrm>
          <a:prstGeom prst="roundRect">
            <a:avLst>
              <a:gd name="adj" fmla="val 9938"/>
            </a:avLst>
          </a:prstGeom>
          <a:solidFill>
            <a:srgbClr val="E4D6D1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822960" y="4989576"/>
            <a:ext cx="10545775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algo der errado, apague o rascunho e recomece. Um rascunho não publicado não existe para ninguém além de você.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Entender o que se cataloga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548640"/>
            <a:ext cx="3291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DOIS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11096"/>
            <a:ext cx="749808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Catalogar bem: as convenções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347427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3400552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verdade no banco, vários modos de mostrar.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que sustenta todas as regras.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408921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4015486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convenções.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Maiúsculas, ordenação, corte do nome, caixa dos títulos, artigo, datas, idioma.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70414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86384" y="4630420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Pseudônimos militantes.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nome civil nunca é apagado.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509733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86384" y="5023612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erros clássicos.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atestados no acervo real — e o que dá para consertar.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84885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~1h15 · o módulo mais denso, e o que mais muda a qualidade do catálogo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O PRINCÍPIO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verdade no banco, vários modos de mostrar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nunca guarda uma decisão de tipografia. Ele guarda o dado; a apresentação é calculada.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490874" cy="2468880"/>
          </a:xfrm>
          <a:prstGeom prst="roundRect">
            <a:avLst>
              <a:gd name="adj" fmla="val 259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2304288"/>
            <a:ext cx="30519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6384" y="2697480"/>
            <a:ext cx="3051962" cy="914400"/>
          </a:xfrm>
          <a:prstGeom prst="roundRect">
            <a:avLst>
              <a:gd name="adj" fmla="val 7000"/>
            </a:avLst>
          </a:prstGeom>
          <a:solidFill>
            <a:srgbClr val="0A0506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896112" y="269748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Reclus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Élisée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1830 · 1905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712464"/>
            <a:ext cx="30519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pessoa é. Campos separados, sem enfeite.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2666" y="3291840"/>
            <a:ext cx="18288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350410" y="2148840"/>
            <a:ext cx="3490874" cy="2468880"/>
          </a:xfrm>
          <a:prstGeom prst="roundRect">
            <a:avLst>
              <a:gd name="adj" fmla="val 259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569866" y="2304288"/>
            <a:ext cx="30519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ordenação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69866" y="2697480"/>
            <a:ext cx="3051962" cy="914400"/>
          </a:xfrm>
          <a:prstGeom prst="roundRect">
            <a:avLst>
              <a:gd name="adj" fmla="val 7000"/>
            </a:avLst>
          </a:prstGeom>
          <a:solidFill>
            <a:srgbClr val="0A0506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679594" y="269748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Reclus, Élisée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69866" y="3712464"/>
            <a:ext cx="30519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ficha se ordena na lista. É o campo sort_name.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96149" y="3291840"/>
            <a:ext cx="18288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133893" y="2148840"/>
            <a:ext cx="3490874" cy="2468880"/>
          </a:xfrm>
          <a:prstGeom prst="roundRect">
            <a:avLst>
              <a:gd name="adj" fmla="val 259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353349" y="2304288"/>
            <a:ext cx="30519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apresentação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53349" y="2697480"/>
            <a:ext cx="3051962" cy="914400"/>
          </a:xfrm>
          <a:prstGeom prst="roundRect">
            <a:avLst>
              <a:gd name="adj" fmla="val 7000"/>
            </a:avLst>
          </a:prstGeom>
          <a:solidFill>
            <a:srgbClr val="0A0506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463077" y="269748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RECLUS, Élisée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(1830-1905)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53349" y="3712464"/>
            <a:ext cx="30519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 na tela ou na citação ABNT. Gerado, nunca digitado.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89204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822960" y="48920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Consequência direta: você nunca digita MAIÚSCULAS, nunca digita parênteses de data, nunca digita a pontuação ISBD. Se você digitar, o dado fica sujo e a apresentação fica errada duas vezes.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CONV-1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Maiúsculas: nunca no banco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6040" cy="1828800"/>
          </a:xfrm>
          <a:prstGeom prst="roundRect">
            <a:avLst>
              <a:gd name="adj" fmla="val 3500"/>
            </a:avLst>
          </a:prstGeom>
          <a:solidFill>
            <a:srgbClr val="241417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3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RECLUS, Élisée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71216"/>
            <a:ext cx="483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Digitado em caixa alta no campo de autoridade. O dado passa a carregar uma decisão gráfica que não é dele.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46040" cy="1828800"/>
          </a:xfrm>
          <a:prstGeom prst="roundRect">
            <a:avLst>
              <a:gd name="adj" fmla="val 3500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34760" y="2011680"/>
            <a:ext cx="483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34760" y="2377440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Reclus, Élisée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4760" y="2871216"/>
            <a:ext cx="483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natural. As maiúsculas viram uma opção de exibição — e a forma ABNT «RECLUS, Élisée» é gerada na hora de exportar uma citação.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40233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ABNT (NBR 6023) não desaparece: ela vira um formato de exportação de primeira classe, ao lado de BibTeX e RIS. Quem precisa da citação em caixa alta clica em exportar e recebe pronta.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12064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numa biblioteca militante: um catálogo em caixa alta não pode ser reconvertido automaticamente em caixa natural (não dá para adivinhar «de» de «De»). O contrário sempre dá. Guardar em caixa natural mantém todas as portas abertas.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CONV-2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manda é o ponto de acesso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sort_name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«ponto de acesso» — é ele que ordena a lista e que faz fé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011680"/>
            <a:ext cx="5955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&lt;elemento de entrada&gt;, &lt;resto dos prenomes e partículas rejeitadas&gt;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395728"/>
            <a:ext cx="5955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datas · sem qualificativo · sem maiúsculas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95264" y="3310128"/>
            <a:ext cx="201168" cy="219456"/>
          </a:xfrm>
          <a:prstGeom prst="down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278728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41248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preferred_name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exibição, na ordem direta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840480"/>
            <a:ext cx="5955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&lt;prenomes&gt; &lt;elemento de entrada&gt;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4224528"/>
            <a:ext cx="5955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natural, sem vírgula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166360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22960" y="5166360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nº 7 do acervo real: 68 fichas têm o preferred_name em forma invertida («Makhno, Nestor» no campo de exibição). O ponto de acesso vazou para a exibição. Nunca o contrário.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— CONV-6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cortar o nome: a regra é linguística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nacionalidade que decide, é a língua do nome — campo name_lang.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Português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patronímico. de/da/do/dos/e são rejeitados.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Bringel, Fabiano de Oliveira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Espanhol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 patronímico, os DOIS conservados.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Flores Magón, Ricardo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Espanhol com «y»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«y» fica integrado ao composto.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Ramón y Cajal, Santiago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Francês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Partícula rejeitada — salvo artigo ou contração.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Beauvoir, Simone de · Le Brun, Charles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 moderno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Partícula CONSERVADA na entrada.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 Amicis, Edmondo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Neerlandês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depois do prefixo — salvo «Ver».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Jong, Rudolf de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Afrikaans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Prefixo CONSERVADO.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Van der Walt, Lucien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Alemão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von, zu rejeitados.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Nettlau, Max von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Inglês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elemento.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Ward, Colin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campo de idioma do nome preenchido, esta tabela não é aplicável. É por isso que idioma e país são pré-requisito duro de todo o resto.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— CONV-6 (BIS)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casos brasileiros que mais derrubam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57839" cy="1600200"/>
          </a:xfrm>
          <a:prstGeom prst="roundRect">
            <a:avLst>
              <a:gd name="adj" fmla="val 4000"/>
            </a:avLst>
          </a:prstGeom>
          <a:solidFill>
            <a:srgbClr val="2E1A1E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86968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Filho · Júnior · Neto · Sobrinho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87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parte do patronímico. Não são sufixos descartáveis.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057400"/>
            <a:ext cx="54068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Luz Filho, Fábio</a:t>
            </a:r>
            <a:r>
              <a:rPr lang="en-US" sz="140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certo
</a:t>
            </a:r>
            <a:r>
              <a:rPr lang="en-US" sz="1400" b="1" dirty="0">
                <a:solidFill>
                  <a:srgbClr val="E4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Filho, Fábio Luz</a:t>
            </a:r>
            <a:r>
              <a:rPr lang="en-US" sz="140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«senhor Filho» não existe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11057839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886968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Duplo patronímico hispânico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42245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sobrenomes ficam juntos na entrada — mas cuidado com o prenome composto.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40480"/>
            <a:ext cx="54068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 Magón, Ricardo</a:t>
            </a:r>
            <a:r>
              <a:rPr lang="en-US" sz="130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duplo patronímico
</a:t>
            </a:r>
            <a:r>
              <a:rPr lang="en-US" sz="1300" b="1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Borges, Jorge Luis</a:t>
            </a:r>
            <a:r>
              <a:rPr lang="en-US" sz="1300" dirty="0">
                <a:solidFill>
                  <a:srgbClr val="8A7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«Jorge Luis» é prenome composto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3492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acervo real: 9 fichas entram por um sufixo de filiação e ~19 fichas partem um duplo patronímico hispânico. O assistente de nomes erra 14% das vezes — o botão «Corrigir» não é decorativo.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— NOMES MILITANTES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Mononímios e pseudônimos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6040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201168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Mononímios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32304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Volin · Archinov · Marcos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71216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inversão, sem vírgula. O ponto de acesso e a exibição são idênticos: Volin = Volin. Inventar um prenome para «completar» é falsificar.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46040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53048" y="201168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Pseudônimos militantes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432304"/>
            <a:ext cx="479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Florentino de Carvalho · Neno Vasco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 Serge · Volin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054096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entrada se faz pela forma mais conhecida DO MOVIMENTO, não pelo nome de registro civil. O nome civil vira uma forma variante, com renvio.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251960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425196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nome civil nunca é apagado nem sobrescrito: ele carrega, muitas vezes, o único rastro de uma repressão. Quem foi preso, exilado ou morto costuma aparecer nos arquivos policiais com o nome de registro.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4864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ficha: campo variant_forms, tipo «nom_civil». Seis tipos autorizados — transliteração, forma original, nome civil, pseudônimo, forma desenvolvida, forma abreviada.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— CONV-3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caixa do título é decidida pelo idioma</a:t>
            </a:r>
            <a:endParaRPr lang="en-US" sz="3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· es · fr · it · 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de frase: só a primeira letra e os nomes próprios.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História do movimento macknovista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case — mas artigos, conjunções e preposições curtas em minúscula.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People's History of the United States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Maiúscula em todos os substantivos.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Die Anarchie ihre Berechtigung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 · nl · 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de frase.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anarkiisma movado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069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NUNCA SE FAZ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445433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786384" y="4389120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as maiúsculas da capa — é decisão gráfica da editora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478351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786384" y="4718304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Capitalizar as palavras-ferramenta: E, Y, De, Of, The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5112703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786384" y="5047488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a pontuação ISBD: o « : » entre título e subtítulo é gerado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92240" y="4023360"/>
            <a:ext cx="5132527" cy="1624584"/>
          </a:xfrm>
          <a:prstGeom prst="roundRect">
            <a:avLst>
              <a:gd name="adj" fmla="val 394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6766560" y="4206240"/>
            <a:ext cx="45838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Botão «Normalizar maiúsculas»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4544568"/>
            <a:ext cx="4583887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fica ativo se o idioma estiver preenchido. Mostra um antes/depois, e dá para desfazer. Nunca age sozinho enquanto você digita — um título pode contradizer a regra de propósito: «bell hooks», siglas.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— CONV-4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artigo não se mexe, se conta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6040" cy="1737360"/>
          </a:xfrm>
          <a:prstGeom prst="roundRect">
            <a:avLst>
              <a:gd name="adj" fmla="val 3684"/>
            </a:avLst>
          </a:prstGeom>
          <a:solidFill>
            <a:srgbClr val="241417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2029968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vício da ficha de papel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95728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Moral Anarquista, 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71216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artigo foi jogado para o fim para a ficha cair na letra M. O título ficou deformado para sempre.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46040" cy="1737360"/>
          </a:xfrm>
          <a:prstGeom prst="roundRect">
            <a:avLst>
              <a:gd name="adj" fmla="val 3684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53048" y="2029968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jeito AnarBib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395728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moral anarquista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871216"/>
            <a:ext cx="479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título fica intacto. Um segundo campo, title_nonfiling = 2, diz «ignore os 2 primeiros caracteres na hora de ordenar». A ficha cai em 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39319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que o indicador 2 da zona MARC 245 faz há cinquenta anos. A regra não é uma invenção do AnarBib — é o padrão bibliográfico. O que é novo é ela ser fácil de aplicar.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9834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fichas do acervo real ainda têm o artigo rejeitado para o fim. É correção mecânica — mas ela só é possível porque o campo existe. Sem o campo, a informação estaria perdida.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— CONV-5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Dizer a incerteza é dizer a verdade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biblioteca militante, metade das autorias tem data incerta. O campo tem de saber disso.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2599868" cy="1234440"/>
          </a:xfrm>
          <a:prstGeom prst="roundRect">
            <a:avLst>
              <a:gd name="adj" fmla="val 518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certa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26080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(1830-1905)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6252" y="2194560"/>
            <a:ext cx="2599868" cy="1234440"/>
          </a:xfrm>
          <a:prstGeom prst="roundRect">
            <a:avLst>
              <a:gd name="adj" fmla="val 518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569132" y="233172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69132" y="260604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aproximada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9132" y="2926080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(c. 1870-1932)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5576" y="2194560"/>
            <a:ext cx="2599868" cy="1234440"/>
          </a:xfrm>
          <a:prstGeom prst="roundRect">
            <a:avLst>
              <a:gd name="adj" fmla="val 518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388456" y="233172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uncertain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60604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duvidosa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88456" y="2926080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(1870?-1932)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24899" y="2194560"/>
            <a:ext cx="2599868" cy="1234440"/>
          </a:xfrm>
          <a:prstGeom prst="roundRect">
            <a:avLst>
              <a:gd name="adj" fmla="val 518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9207779" y="233172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07779" y="260604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desconhecida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07779" y="2926080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parênteses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82276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86384" y="3749040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dois campos: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atividade («ativo 1900-1910») e nota livre sobre as datas.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18852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786384" y="4114800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está vivo: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qualificativo living. A exibição fica «(n. 1953)».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455428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786384" y="4480560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tudo é desconhecido: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aparece nada. Nunca parênteses vazios.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492004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786384" y="4846320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travessão é gerado.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digita dois números inteiros; a exibição monta o resto.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5778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acervo real: 726 fichas sem data de nascimento, 722 sem país. Não é falha de rigor — é a condição normal de um fundo militante. Por isso o campo aceita a incerteza em vez de exigir uma precisão inventada.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 — RESPONSABILIDADES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papel nunca entra dentro do nome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6040" cy="1920240"/>
          </a:xfrm>
          <a:prstGeom prst="roundRect">
            <a:avLst>
              <a:gd name="adj" fmla="val 3333"/>
            </a:avLst>
          </a:prstGeom>
          <a:solidFill>
            <a:srgbClr val="241417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2029968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presente no banco — e errado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95728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Rosamund Bartlett (Org.)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identificado, Não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REICH, Hilhem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10128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papel, a negação e a coquilha entraram no nome. A autoridade fica inutilizável.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46040" cy="1920240"/>
          </a:xfrm>
          <a:prstGeom prst="roundRect">
            <a:avLst>
              <a:gd name="adj" fmla="val 3333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53048" y="2029968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 tipadas (modo Avançado)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53048" y="2432304"/>
            <a:ext cx="1544269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553048" y="2432304"/>
            <a:ext cx="1544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07045" y="2432304"/>
            <a:ext cx="1544269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07045" y="2432304"/>
            <a:ext cx="1544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Coautor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861042" y="2432304"/>
            <a:ext cx="1544269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9861042" y="2432304"/>
            <a:ext cx="1544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Coletivo-Organização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53048" y="2852928"/>
            <a:ext cx="1544269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553048" y="2852928"/>
            <a:ext cx="1544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07045" y="2852928"/>
            <a:ext cx="1544269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8207045" y="2852928"/>
            <a:ext cx="1544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Prefácio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329184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entra como entidade ligada, com o papel ao lado e um marcador «principal». O nome fica limpo.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11480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822960" y="4114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fundo do projeto: autoridades são entidades ligadas, não cadeias de caracteres. O campo livre de autoria está em processo de aposentadoria — evite alimentá-lo.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16636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Coletividades: forma desenvolvida, como a organização se nomeia — «Confederación Nacional del Trabajo», não «CNT». A sigla vai como forma variante. Sem hierarquia administrativa: uma federação anarquista não tem subordinação a modelar.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 — DIAGNÓSTICO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dez erros mais frequentes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atestados na auditoria de 20/08/2026 sobre o acervo real.</a:t>
            </a:r>
            <a:endParaRPr lang="en-US" sz="13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por sufixo de filiação — FILHO, Fábio Luz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mecânico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pela partícula — DE OLIVEIRA BRINGEL, Fabiano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de 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 — 4 estão certos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Duplo patronímico hispânico partido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 de 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humana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Palavras-ferramenta capitalizadas — Cinema E Anarquia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semi, por idioma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 inteiro em caixa 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mecânico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Artigo rejeitado para o fim — Moral Anarquista,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mecânico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preferred_name em forma invertida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mecânico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Subtítulo colado no título por « - » ou « : 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4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Diacríticos perdidos — EducaÇao, Concepçao, BELEM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levantar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semi, em duas passadas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 e país vazios ou em texto livre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+ 722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mecânico — pré-requisito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destes erros quebrou nada. Todos são consertáveis. Mas o nº 8 custa dias de trabalho humano — e é o que a convenção evita a partir de agora.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NA MASSA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B0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2 — consertar cinco fichas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fichas fabricadas para vocês na blmf-teste, TESTE-9001 a TESTE-9005. Cada uma carrega dois dos dez erros clássicos. O acervo real não é tocado.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1795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28981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86384" y="2228850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TESTE-9001.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 Cinema E A Anarquia No Brasil», de FILHO, Fábio Luz — erros 1 e 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79882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86384" y="2737866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TESTE-9002.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«Moral Anarquista, A», de DE OLIVEIRA BRINGEL, Fabiano — erros 2 e 6.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30784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86384" y="3246882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TESTE-9003.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«REGENERACIÓN E A REVOLUÇÃO MEXICANA», de MAGÓN, Ricardo Flores — erros 3 e 5.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81685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86384" y="3755898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TESTE-9004.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 revolução russa na Ucrânia - memórias do movimento macknovista», de Makhno — erros 7 e 8.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32587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86384" y="4264914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TESTE-9005.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«EducaÇao libertária e concepçao de mundo», de Reclus — erros 9 e 10.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3489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86384" y="4773930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jogo.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os dois erros ANTES de olhar o gabarito. Nomear cada um pelo número da convenção.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863090"/>
            <a:ext cx="4949647" cy="3072384"/>
          </a:xfrm>
          <a:prstGeom prst="roundRect">
            <a:avLst>
              <a:gd name="adj" fmla="val 2083"/>
            </a:avLst>
          </a:prstGeom>
          <a:solidFill>
            <a:srgbClr val="E9DCD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949440" y="2137410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4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 SE…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250926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168896" y="2448306"/>
            <a:ext cx="4181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nomeou os dez erros pelo número, sem ajuda.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865882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168896" y="2804922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começou pelo idioma na TESTE-9005: sem ele, a normalização de maiúsculas nem fica ativa.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339318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168896" y="3332226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mexeu no texto do título para arrumar a ordenação — usou o campo de artigo não-classante.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3920490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7168896" y="3859530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reconstruiu a exibição a partir do ponto de acesso, e nunca o contrário.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4447794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7168896" y="4386834"/>
            <a:ext cx="4181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conseguiu desfazer pelo menos uma correção sua.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456682"/>
            <a:ext cx="11057839" cy="774954"/>
          </a:xfrm>
          <a:prstGeom prst="roundRect">
            <a:avLst>
              <a:gd name="adj" fmla="val 7080"/>
            </a:avLst>
          </a:prstGeom>
          <a:solidFill>
            <a:srgbClr val="E4D6D1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822960" y="5456682"/>
            <a:ext cx="10545775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cinco fichas foram fabricadas para serem estragadas. Erre a correção, corrija a correção: nada aqui está publicado na rede.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Catalogar bem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548640"/>
            <a:ext cx="3291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TRÊS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11096"/>
            <a:ext cx="7498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Catalogar na prática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88499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2811272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percurso, na ordem.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gestos, e um deles não pode ser pulado.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7818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3204464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metadados.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fontes externas propõem; quem decide é você.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67138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86384" y="3597656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duplicado.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bloqueio duro da catalogação — e por que ele nunca é beco sem saída.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28631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86384" y="4212590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e proveniência.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permitido buscar, e o que a gente tem de anotar.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~50 min · termina catalogando um livro com ISBN, exemplar e proveniência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— O PERCURSO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gestos, sempre nesta ordem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5623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66928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783080"/>
            <a:ext cx="475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tipo de material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130552"/>
            <a:ext cx="475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ele que decide quais campos aparecem. Primeiro gesto, sempre.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84378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6692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70632"/>
            <a:ext cx="475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Digitar o título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118104"/>
            <a:ext cx="475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autoria, ano, editora, idioma e a cota, se você já tiver.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831336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E0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66928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758184"/>
            <a:ext cx="475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Salvar o rascunho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105656"/>
            <a:ext cx="475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 obrigatório. Nada de capa antes disso — o slide seguinte explica.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18888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566928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745736"/>
            <a:ext cx="475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metadados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5093208"/>
            <a:ext cx="475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Multi-fontes e ISBN da Biblioteca Nacional. As propostas ficam propostas.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4448" y="185623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324448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73088" y="1783080"/>
            <a:ext cx="475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capa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73088" y="2130552"/>
            <a:ext cx="475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de candidatas, ou enviar uma imagem sua.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24448" y="284378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32444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73088" y="2770632"/>
            <a:ext cx="475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o exemplar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3118104"/>
            <a:ext cx="475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Tombo, estante, política de circulação, visibilidade, proveniência.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24448" y="3831336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6324448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73088" y="3758184"/>
            <a:ext cx="475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4105656"/>
            <a:ext cx="475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entra na rede. É aqui que o ISBN duplicado é verificado.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4448" y="4754880"/>
            <a:ext cx="5300320" cy="997839"/>
          </a:xfrm>
          <a:prstGeom prst="roundRect">
            <a:avLst>
              <a:gd name="adj" fmla="val 5498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6580480" y="4754880"/>
            <a:ext cx="4788256" cy="99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você não publica, a ficha é um rascunho: ela não existe para mais ninguém. Apagar um rascunho não deixa rastro nenhum.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— A ARMADILHA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Salvar o rascunho ANTES de buscar a capa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2E1A1E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86968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os botões de capa começam desativados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505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é guardada num caminho que usa o identificador da ficha. Enquanto a ficha não tem identificador real, o caminho seria «books/new/front.png» — e todas as capas do mundo se sobrescreveriam umas às outras. Já aconteceu. Por isso o botão espera.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6576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41417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566928" y="36576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nova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1513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identificador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98216" y="382219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27400" y="36576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3427400" y="36576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rascunho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7400" y="41513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clica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58688" y="382219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287872" y="36576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41417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287872" y="36576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criado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87872" y="41513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19159" y="382219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9148343" y="36576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9148343" y="36576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«Buscar capa» ativa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8343" y="41513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sim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470916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822960" y="4709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Reflexo geral, muito além da capa: quando um botão está desativado, ele está te protegendo de alguma coisa. Leia o tooltip antes de procurar culpado ou reportar bug.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76072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possíveis do bloco de capa: «Sem capa» · «Nenhuma capa encontrada nas fontes consultadas» · galeria de candidatas · capa escolhida, com «Remover capa».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— FONTES EXTERNAS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fontes propõem, você decide</a:t>
            </a:r>
            <a:endParaRPr lang="en-US" sz="3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para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Biblioteca Nacional (Brasil)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por ISBN. É a fonte prioritária para o acervo brasileiro.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frágil — botão manual como reserva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BNE · BnF · DNB · ICCU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Bibliotecas nacionais espanhola, francesa, alemã e italiana.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VIAF · ISNI · Wikidata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Autoridades: ligar uma pessoa ao seu identificador internacional.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busca de autoridade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of Congress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desativada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 · Open Library (obras)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Enriquecimento de fichas.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chegar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24528"/>
            <a:ext cx="11057839" cy="824484"/>
          </a:xfrm>
          <a:prstGeom prst="roundRect">
            <a:avLst>
              <a:gd name="adj" fmla="val 6654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4224528"/>
            <a:ext cx="10545775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absoluta: nada se escreve sozinho. Cada resultado é uma CANDIDATA numa galeria. Você compara com o objeto que está na sua mão e escolhe. Um ISBN certo não garante uma edição certa.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268468"/>
            <a:ext cx="11057839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segurança (invariante INV-3): o seu navegador nunca fala com a Wikidata nem com a Open Library. Toda busca passa pelo servidor do AnarBib. Se fosse direto, o terceiro saberia qual autora está sendo consultada — e por quem.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— O ÚNICO BLOQUEIO DURO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ISBN já publicado na rede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Acontece na hora de publicar. É o único momento em que o software diz «não» de verdade na catalogação.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11057839" cy="822960"/>
          </a:xfrm>
          <a:prstGeom prst="roundRect">
            <a:avLst>
              <a:gd name="adj" fmla="val 7778"/>
            </a:avLst>
          </a:prstGeom>
          <a:solidFill>
            <a:srgbClr val="2E1A1E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86968" y="21214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possível duplicata — esta obra já existe na rede AnarBib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163824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33467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a ficha existente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822192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leitura. Você confere que é mesmo a mesma edição.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8218" y="3163824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557674" y="33467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um exemplar aqui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7674" y="3822192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 certo em 9 casos de 10. Cria um exemplar da BLMF na ficha compartilhada, com a sua política de circulação, a sua visibilidade e a sua proveniência.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9509" y="3163824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8328965" y="33467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o ISBN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8965" y="3822192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aviso para você corrigir um número digitado errado.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974336"/>
            <a:ext cx="11057839" cy="774954"/>
          </a:xfrm>
          <a:prstGeom prst="roundRect">
            <a:avLst>
              <a:gd name="adj" fmla="val 708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22960" y="4974336"/>
            <a:ext cx="10545775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existe escape: você não consegue criar uma ficha gêmea nem forçando. É de propósito. Uma ficha gêmea parte o catálogo coletivo em dois e ninguém percebe até ser tarde.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93217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1"/>
              </a:lnSpc>
              <a:buNone/>
            </a:pPr>
            <a:r>
              <a:rPr lang="en-US" sz="115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sem ISBN — zine, cartaz, panfleto, dossiê — não passam por esta verificação. Ali a vigilância é humana.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— CAPAS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a imagem pode vir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6040" cy="2148840"/>
          </a:xfrm>
          <a:prstGeom prst="roundRect">
            <a:avLst>
              <a:gd name="adj" fmla="val 2979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2048256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244265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060704" y="237744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Library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2790127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60704" y="272491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/ Wikidata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13759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060704" y="3072384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declarada pela própria página do recurso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3485071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60704" y="341985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foto ou digitalização — botão «Escolher imagem»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1874520"/>
            <a:ext cx="5346040" cy="2148840"/>
          </a:xfrm>
          <a:prstGeom prst="roundRect">
            <a:avLst>
              <a:gd name="adj" fmla="val 2979"/>
            </a:avLst>
          </a:prstGeom>
          <a:solidFill>
            <a:srgbClr val="241417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553048" y="2048256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53048" y="2442655"/>
            <a:ext cx="82296" cy="82296"/>
          </a:xfrm>
          <a:prstGeom prst="rect">
            <a:avLst/>
          </a:prstGeom>
          <a:solidFill>
            <a:srgbClr val="E458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772504" y="237744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rastreamento e condições de uso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53048" y="2808415"/>
            <a:ext cx="82296" cy="82296"/>
          </a:xfrm>
          <a:prstGeom prst="rect">
            <a:avLst/>
          </a:prstGeom>
          <a:solidFill>
            <a:srgbClr val="E458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772504" y="274320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idem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53048" y="3174175"/>
            <a:ext cx="82296" cy="82296"/>
          </a:xfrm>
          <a:prstGeom prst="rect">
            <a:avLst/>
          </a:prstGeom>
          <a:solidFill>
            <a:srgbClr val="E458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772504" y="310896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link direto para uma imagem hospedada fora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3611880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por comodidade, nem «só desta vez».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251960"/>
            <a:ext cx="11057839" cy="1047369"/>
          </a:xfrm>
          <a:prstGeom prst="roundRect">
            <a:avLst>
              <a:gd name="adj" fmla="val 5238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822960" y="4251960"/>
            <a:ext cx="10545775" cy="104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há link direto (hotlink). A imagem é baixada pelo servidor e guardada no nosso próprio depósito. O navegador de quem lê o catálogo jamais conversa com a Open Library — logo, ninguém lá fora sabe quais livros são consultados aqui.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4406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capa escolhida guarda a fonte e a licença. Não é burocracia: as licenças da Wikimedia e da Open Library são variadas, e a atribuição é uma exigência ética antes de ser jurídica.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PROVENIÊNCIA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modos de aquisição, e três campos ao lado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vive no EXEMPLAR — esta doação precisa, esta troca precisa. Nunca na obra.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1454288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66928" y="2194560"/>
            <a:ext cx="145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Doação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67520" y="2194560"/>
            <a:ext cx="1454288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167520" y="2194560"/>
            <a:ext cx="145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68112" y="2194560"/>
            <a:ext cx="1454288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768112" y="2194560"/>
            <a:ext cx="145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68704" y="2194560"/>
            <a:ext cx="1454288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368704" y="2194560"/>
            <a:ext cx="145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69296" y="2194560"/>
            <a:ext cx="1454288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969296" y="2194560"/>
            <a:ext cx="145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 longo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69887" y="2194560"/>
            <a:ext cx="1454288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8569887" y="2194560"/>
            <a:ext cx="145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170479" y="2194560"/>
            <a:ext cx="1454288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0170479" y="2194560"/>
            <a:ext cx="145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externa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2926080"/>
            <a:ext cx="352745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768096" y="3127248"/>
            <a:ext cx="3125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 aquisição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3410712"/>
            <a:ext cx="312511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objeto entrou na biblioteca. Aproximada já ajuda muito.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32122" y="2926080"/>
            <a:ext cx="352745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4533290" y="3127248"/>
            <a:ext cx="3125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de proveniência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33290" y="3410712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livre. «Da biblioteca pessoal de X, doada pela família em 2019.» É aqui que mora a memória.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7317" y="2926080"/>
            <a:ext cx="352745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8298485" y="3127248"/>
            <a:ext cx="3125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Origem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98485" y="3410712"/>
            <a:ext cx="312511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biblioteca, o coletivo ou a pessoa de onde o objeto veio.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66344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822960" y="466344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Numa biblioteca militante a proveniência não é detalhe erudito: é a história do coletivo. Quem doou, quando, depois de qual acontecimento. Sem esse campo preenchido, o acervo vira uma pilha anônima em uma geração.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7607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na tela: «Aquisição e proveniência», dentro do cartão do exemplar — no mesmo lugar onde você já digita o tombo.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737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2 758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907792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exemplares com dado de aquisição preenchido, em setembro de 2026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94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«O que falta não é o campo. É o hábito.»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617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 projeto, lacuna EA-ACQ-1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4858207" cy="3931920"/>
          </a:xfrm>
          <a:prstGeom prst="roundRect">
            <a:avLst>
              <a:gd name="adj" fmla="val 1628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040880" y="1965960"/>
            <a:ext cx="4309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gente combina a partir de hoje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0" y="262553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260336" y="2560320"/>
            <a:ext cx="4090111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ficha nova </a:t>
            </a: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com o modo de aquisição preenchido. Mesmo que seja só «Doação».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3179001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260336" y="3113786"/>
            <a:ext cx="4090111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entrada de caixa </a:t>
            </a: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uma linha: quem trouxe, quando, em que ocasião.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3732467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260336" y="3667252"/>
            <a:ext cx="40901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retroativo não é urgente. </a:t>
            </a: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vai preencher 2 758 exemplares. O que conta é parar de aumentar a dívida.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449865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260336" y="4433443"/>
            <a:ext cx="4090111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 montante. </a:t>
            </a: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ainda rastro da DECISÃO coletiva de integrar uma obra. É uma lacuna reconhecida — e politicamente importante numa biblioteca militante.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NA MASSA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B0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3 — um livro completo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livro com ISBN, na blmf-teste. Do zero até a publicação.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200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86384" y="21396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tipo, digitar o título, salvar o rascunho.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3898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86384" y="2478024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ISBN. Comparar a candidata com o livro na sua mão — edição, ano, editora.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4800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86384" y="2987040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candidata e conferir a caixa do título segundo o idioma.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863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86384" y="3325368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 capa. Se não achar, enviar uma foto.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24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86384" y="3663696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exemplar: tombo, estante, política de circulação, visibilidade.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23367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86384" y="4172712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aquisição, data, nota de proveniência e origem.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57200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86384" y="4511040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Publicar. Se aparecer o aviso de duplicata, escolher «Criar um exemplar aqui».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1773936"/>
            <a:ext cx="4949647" cy="2886456"/>
          </a:xfrm>
          <a:prstGeom prst="roundRect">
            <a:avLst>
              <a:gd name="adj" fmla="val 2218"/>
            </a:avLst>
          </a:prstGeom>
          <a:solidFill>
            <a:srgbClr val="E9DCD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949440" y="2048256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4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 SE…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2420112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168896" y="2359152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existe e você sabe dizer quais campos vieram da fonte externa e quais você escreveu.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94741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168896" y="2886456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 está no nosso depósito, com fonte e licença registradas.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3474720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7168896" y="3413760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exemplar tem tombo, política e proveniência — os três, não dois.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4002024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7168896" y="3941064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apareceu o aviso de duplicata, você não tentou contornar: você anexou.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93792"/>
            <a:ext cx="11057839" cy="552069"/>
          </a:xfrm>
          <a:prstGeom prst="roundRect">
            <a:avLst>
              <a:gd name="adj" fmla="val 9938"/>
            </a:avLst>
          </a:prstGeom>
          <a:solidFill>
            <a:srgbClr val="E4D6D1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822960" y="5193792"/>
            <a:ext cx="10545775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gesto que pede atenção aqui é o passo 7. Antes dele, tudo é rascunho e tudo se apaga.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Catalogar na prática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548640"/>
            <a:ext cx="3291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QUATRO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11096"/>
            <a:ext cx="7498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fluxos: fazer circular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88499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2811272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fluxos.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Empréstimo, consulta local, reserva, empréstimo entre bibliotecas.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49992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3426206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de estados.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fluxo é uma sequência de etapas com nome. Saber os nomes é saber o fluxo.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11486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86384" y="4041140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balcão.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 situações concretas e o gesto certo para cada uma.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5080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86384" y="4434332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sozinho.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automáticos e tarefas noturnas — o que você não precisa fazer à mão.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~2h · é o módulo do dia a dia, o que vocês vão usar toda semana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— PANORAMA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fluxos, quatro perguntas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86152" cy="2011680"/>
          </a:xfrm>
          <a:prstGeom prst="roundRect">
            <a:avLst>
              <a:gd name="adj" fmla="val 318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68096" y="202996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67712"/>
            <a:ext cx="218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livro sai da biblioteca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779776"/>
            <a:ext cx="2183816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exemplares com política emprestável, para pessoa validada e com cotização em dia. É o fluxo mais comum.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0824" y="1828800"/>
            <a:ext cx="2586152" cy="2011680"/>
          </a:xfrm>
          <a:prstGeom prst="roundRect">
            <a:avLst>
              <a:gd name="adj" fmla="val 318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591992" y="202996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LOCAL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591992" y="2267712"/>
            <a:ext cx="218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documento NÃO sai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91992" y="2551176"/>
            <a:ext cx="2183816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Periódicos raros, brochuras frágeis, fundo patrimonial, arquivo. Com hora marcada, negociada com a pessoa.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4720" y="1828800"/>
            <a:ext cx="2586152" cy="2011680"/>
          </a:xfrm>
          <a:prstGeom prst="roundRect">
            <a:avLst>
              <a:gd name="adj" fmla="val 318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415888" y="202996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267712"/>
            <a:ext cx="218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 antes de vir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2551176"/>
            <a:ext cx="2183816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 disponibilidade. Termina virando um empréstimo, no momento da retirada.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38615" y="1828800"/>
            <a:ext cx="2586152" cy="2011680"/>
          </a:xfrm>
          <a:prstGeom prst="roundRect">
            <a:avLst>
              <a:gd name="adj" fmla="val 318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239783" y="202996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239783" y="2267712"/>
            <a:ext cx="218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bibliotecas da rede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39783" y="2779776"/>
            <a:ext cx="2183816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documento está em outra biblioteca federada. Especificado, ainda não implementado.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25196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822960" y="42519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garante sozinho: um mesmo acervo NUNCA tem um empréstimo ativo e uma consulta ativa ao mesmo tempo. Se você tentar, a criação é recusada com uma mensagem clara — e é o software que está certo.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3492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ainda um quinto circuito, o compartilhamento digital de material cinzento (panfletos, cartazes). Está especificado, não implementado, e é distinto do PEB. Não faz parte desta formação.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— DECISÃO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dúvida, é o exemplar que responde</a:t>
            </a:r>
            <a:endParaRPr lang="en-US" sz="31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fluxo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pessoa quer levar o livro para casa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Empréstimo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exemplar tem política emprestável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exemplar é frágil, raro, ou está no arquivo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local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acervo está marcado como só consulta — a ficha pública já mostra «Pedir uma consulta» no lugar de «Reservar»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pessoa quer garantir que estará lá quinta-feira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 reserva, vocês combinam a retirada, e a retirada vira empréstimo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livro está na Emma Goldman, em Salvador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não implementado — hoje se resolve por conversa entre as coordenações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Vocês emprestam sem burocracia, entre companheir(o/a/e)s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uma escolha legítima. O eixo circulation_mode em informal existe exatamente para isso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93776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49377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SIGB não obriga ninguém a burocratizar. Se um empréstimo entre companheir(o/a/e)s não precisa de rastro, não crie rastro. O software está aqui para o que o coletivo decidiu registrar.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— EMPRÉSTIMO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níveis de estado, nunca confundir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CABEÇALHO DO EMPRÉSTIMO — calculado, nunca digitado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639568" cy="420624"/>
          </a:xfrm>
          <a:prstGeom prst="roundRect">
            <a:avLst>
              <a:gd name="adj" fmla="val 108696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66928" y="2103120"/>
            <a:ext cx="2639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263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linhas abertas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61360" y="2249424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590544" y="2103120"/>
            <a:ext cx="2639568" cy="420624"/>
          </a:xfrm>
          <a:prstGeom prst="roundRect">
            <a:avLst>
              <a:gd name="adj" fmla="val 108696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590544" y="2103120"/>
            <a:ext cx="2639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parcialmente_devolvido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90544" y="2560320"/>
            <a:ext cx="263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84976" y="2249424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614160" y="2103120"/>
            <a:ext cx="2639568" cy="420624"/>
          </a:xfrm>
          <a:prstGeom prst="roundRect">
            <a:avLst>
              <a:gd name="adj" fmla="val 108696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614160" y="2103120"/>
            <a:ext cx="2639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encerrado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14160" y="2560320"/>
            <a:ext cx="263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aberta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063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DE CADA ITEM — caminho só de ida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383280"/>
            <a:ext cx="2551176" cy="420624"/>
          </a:xfrm>
          <a:prstGeom prst="roundRect">
            <a:avLst>
              <a:gd name="adj" fmla="val 108696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566928" y="3383280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84048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poder da pessoa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72968" y="3529584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502152" y="3383280"/>
            <a:ext cx="2551176" cy="420624"/>
          </a:xfrm>
          <a:prstGeom prst="roundRect">
            <a:avLst>
              <a:gd name="adj" fmla="val 108696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3502152" y="3383280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devolvido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384048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 da equipe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0" y="3310128"/>
            <a:ext cx="5132527" cy="1371600"/>
          </a:xfrm>
          <a:prstGeom prst="roundRect">
            <a:avLst>
              <a:gd name="adj" fmla="val 4667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720840" y="3456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pessoa lê na conta dela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767328"/>
            <a:ext cx="46753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«Em meu poder» · «Devolvido» · «Empréstimo em curso» · «Devolução parcial» · «Empréstimo encerrado» — e, calculado sozinho: «em atraso» quando a data passou.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84632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822960" y="48463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existe caminho de anulação de empréstimo. Criou por engano? Faça a devolução total na hora. É assumido pelo projeto e é o gesto certo — não é gambiarra.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8064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tarefa automática muda o estado de um empréstimo. Os robôs noturnos só mandam e-mail.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— BALCÃO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«Tem uma pessoa na minha frente com um livro»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86152" cy="2140204"/>
          </a:xfrm>
          <a:prstGeom prst="roundRect">
            <a:avLst>
              <a:gd name="adj" fmla="val 299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68096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542032"/>
            <a:ext cx="218381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 a pessoa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817876"/>
            <a:ext cx="2183816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6"/>
              </a:lnSpc>
              <a:buNone/>
            </a:pPr>
            <a:r>
              <a:rPr lang="en-US" sz="11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Empréstimos do painel, busca por nome. O cartão de leitor(a/e) ainda não é lido por leitura ótica — a busca nominal é o caminho.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824" y="1828800"/>
            <a:ext cx="2586152" cy="2140204"/>
          </a:xfrm>
          <a:prstGeom prst="roundRect">
            <a:avLst>
              <a:gd name="adj" fmla="val 299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591992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59199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91992" y="2542032"/>
            <a:ext cx="218381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 os exemplares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3038856"/>
            <a:ext cx="2183816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6"/>
              </a:lnSpc>
              <a:buNone/>
            </a:pPr>
            <a:r>
              <a:rPr lang="en-US" sz="11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múltipla: dá para registrar três livros de uma vez, num só empréstimo.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4720" y="1828800"/>
            <a:ext cx="2586152" cy="2140204"/>
          </a:xfrm>
          <a:prstGeom prst="roundRect">
            <a:avLst>
              <a:gd name="adj" fmla="val 299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415888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4158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542032"/>
            <a:ext cx="218381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Conferir a data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2817876"/>
            <a:ext cx="2183816" cy="75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6"/>
              </a:lnSpc>
              <a:buNone/>
            </a:pPr>
            <a:r>
              <a:rPr lang="en-US" sz="11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de devolução é calculada na hora, segundo a política. E é modificável antes de validar.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38615" y="1828800"/>
            <a:ext cx="2586152" cy="2140204"/>
          </a:xfrm>
          <a:prstGeom prst="roundRect">
            <a:avLst>
              <a:gd name="adj" fmla="val 299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239783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8FB0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9239783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39783" y="2542032"/>
            <a:ext cx="218381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empréstimo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239783" y="2817876"/>
            <a:ext cx="2183816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6"/>
              </a:lnSpc>
              <a:buNone/>
            </a:pPr>
            <a:r>
              <a:rPr lang="en-US" sz="11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clique. O e-mail para a pessoa sai sozinho, no idioma dela.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160520"/>
            <a:ext cx="11057839" cy="1234440"/>
          </a:xfrm>
          <a:prstGeom prst="roundRect">
            <a:avLst>
              <a:gd name="adj" fmla="val 518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59536" y="43159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nunca entra na conta de outra pessoa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" y="4645152"/>
            <a:ext cx="104726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/conta é o espaço pessoal de cada leitor(a/e). Tudo o que a equipe precisa fazer está no painel. Se você se pegar querendo «entrar na conta dela para resolver», o gesto certo existe no painel — procure ali.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57784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Reflexo útil: os botões que uma regra bloquearia já vêm desativados, com o motivo no tooltip. Você não clica para descobrir uma recusa — você lê antes.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— DEVOLUÇÃO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Total, ou só o que ela trouxe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6040" cy="2286000"/>
          </a:xfrm>
          <a:prstGeom prst="roundRect">
            <a:avLst>
              <a:gd name="adj" fmla="val 28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2048256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Devolver tudo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68880"/>
            <a:ext cx="479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linhas passam a devolvido, o cabeçalho vira encerrado. Um e-mail de devolução sai por item.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291840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também o gesto de conserto quando você criou um empréstimo por engano.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46040" cy="2286000"/>
          </a:xfrm>
          <a:prstGeom prst="roundRect">
            <a:avLst>
              <a:gd name="adj" fmla="val 28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53048" y="2048256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Devolver itens selecionados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468880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trouxe um de três. Você marca esse. O cabeçalho passa a parcialmente devolvido, os outros dois guardam a data de devolução original.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401568"/>
            <a:ext cx="479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e-mail que sai traz a lista do que ainda falta. Você não precisa escrever nada.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38912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43891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Devolver é caminho só de ida na linha do item. Não existe «desdevolver». Se você marcou o livro errado, o conserto é registrar um novo empréstimo desse item — e é por isso que vale conferir o tombo antes de clicar.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46811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disponível na lista: aberto · parcialmente devolvido · encerrado. Use-o para achar o empréstimo certo em vez de rolar a página.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— CONSULTA LOCAL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mais rico, e o mais perdoado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476424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2476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solicitada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41448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pede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98216" y="2121408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427400" y="1965960"/>
            <a:ext cx="2476424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427400" y="1965960"/>
            <a:ext cx="2476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em_preparacao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27400" y="2441448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«Preparar»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58688" y="2121408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87872" y="1965960"/>
            <a:ext cx="2476424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287872" y="1965960"/>
            <a:ext cx="2476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consulta_agendada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87872" y="2441448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«Agendar»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19159" y="2121408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148343" y="1965960"/>
            <a:ext cx="2476424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148343" y="1965960"/>
            <a:ext cx="2476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consulta_realizada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8343" y="2441448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«Marcar como realizada»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8803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laterais, possíveis em qualquer etapa não terminal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200400"/>
            <a:ext cx="2627300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66928" y="3200400"/>
            <a:ext cx="262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cancelada_leitor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602736"/>
            <a:ext cx="262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cancela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77108" y="3200400"/>
            <a:ext cx="2627300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3377108" y="3200400"/>
            <a:ext cx="262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cancelada_biblioteca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77108" y="3602736"/>
            <a:ext cx="262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equipe, com nota obrigatória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87288" y="3200400"/>
            <a:ext cx="2627300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6187288" y="3200400"/>
            <a:ext cx="262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expirada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187288" y="3602736"/>
            <a:ext cx="262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automática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997467" y="3200400"/>
            <a:ext cx="2627300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8997467" y="3200400"/>
            <a:ext cx="262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nao_compareceu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97467" y="3602736"/>
            <a:ext cx="262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«Marcar não comparecimento»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" y="411480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crucial: «não compareceu» NÃO encerra a consulta. É um rastro de trabalho, não um estado final. Se você marcou por engano, dá para reclassificar em «cancelada pela biblioteca».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212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Terminais de verdade — sem volta, e sem função de reabertura: consulta realizada · cancelada pela leitora · cancelada pela biblioteca · expirada.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— CONSULTA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pode fazer o quê, em cada etapa</a:t>
            </a:r>
            <a:endParaRPr lang="en-US" sz="31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etapa…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compareceu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cancelar (pessoa)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cancelar (equipe)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solicitada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em_preparacao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consulta_agendada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nao_compareceu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73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terminais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6714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86384" y="4297680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2"/>
              </a:lnSpc>
              <a:buNone/>
            </a:pPr>
            <a:r>
              <a:rPr lang="en-US" sz="13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</a:t>
            </a: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Repropor um horário só é possível se a pessoa tiver recusado o horário anterior.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473290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786384" y="4663440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2"/>
              </a:lnSpc>
              <a:buNone/>
            </a:pPr>
            <a:r>
              <a:rPr lang="en-US" sz="13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</a:t>
            </a: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«Não compareceu» só aparece depois da hora marcada, e nunca se a pessoa tinha recusado o horário.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512064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decorar esta tabela: a interface já a aplica. As transições impossíveis não são exibidas, as passadas aparecem em cinza. A tabela está aqui para você entender o que vê.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— AGENDAR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regras, e nenhuma surpresa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86152" cy="1793240"/>
          </a:xfrm>
          <a:prstGeom prst="roundRect">
            <a:avLst>
              <a:gd name="adj" fmla="val 3569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68096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542032"/>
            <a:ext cx="21838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do horário de funcionamento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23616"/>
            <a:ext cx="218381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conhece os horários declarados da biblioteca.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824" y="1828800"/>
            <a:ext cx="2586152" cy="1793240"/>
          </a:xfrm>
          <a:prstGeom prst="roundRect">
            <a:avLst>
              <a:gd name="adj" fmla="val 3569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591992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59199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91992" y="2542032"/>
            <a:ext cx="21838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no passado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2810256"/>
            <a:ext cx="2183816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por um minuto.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4720" y="1828800"/>
            <a:ext cx="2586152" cy="1793240"/>
          </a:xfrm>
          <a:prstGeom prst="roundRect">
            <a:avLst>
              <a:gd name="adj" fmla="val 3569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415888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4158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542032"/>
            <a:ext cx="21838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sobreposição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2810256"/>
            <a:ext cx="2183816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consultas agendadas do mesmo acervo não podem se cruzar.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38615" y="1828800"/>
            <a:ext cx="2586152" cy="1793240"/>
          </a:xfrm>
          <a:prstGeom prst="roundRect">
            <a:avLst>
              <a:gd name="adj" fmla="val 3569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239783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9239783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39783" y="2542032"/>
            <a:ext cx="21838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+1 hora e +60 dias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39783" y="3023616"/>
            <a:ext cx="218381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daqui a dez minutos, nem no ano que vem.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932936"/>
            <a:ext cx="11057839" cy="1257808"/>
          </a:xfrm>
          <a:prstGeom prst="roundRect">
            <a:avLst>
              <a:gd name="adj" fmla="val 5089"/>
            </a:avLst>
          </a:prstGeom>
          <a:solidFill>
            <a:srgbClr val="2E1A1E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41248" y="4115816"/>
            <a:ext cx="1050919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hora de início E hora de fim — os três juntos, sempre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4484624"/>
            <a:ext cx="1050919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hora de fim não é opcional; a menção «(opcional)» foi retirada dos dez idiomas. O formulário abre pré-preenchido em 14:00 → 15:00 e aceita uma nota de até 300 caracteres. Se faltar um dos três, a gravação é recusada.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428488"/>
            <a:ext cx="11057839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300" i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horário for recusado por uma das quatro regras, a mensagem diz qual. Você corrige e reenvia — nada foi perdido, nenhum e-mail saiu.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— NEGOCIAÇÃO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Propor, recusar, repropor — sem limite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42106" cy="1828800"/>
          </a:xfrm>
          <a:prstGeom prst="roundRect">
            <a:avLst>
              <a:gd name="adj" fmla="val 3500"/>
            </a:avLst>
          </a:prstGeom>
          <a:solidFill>
            <a:srgbClr val="241417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0467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3288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propõe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16936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Agendar. A pessoa recebe um e-mail com o horário formatado no idioma dela.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91330" y="2743200"/>
            <a:ext cx="201168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374794" y="1874520"/>
            <a:ext cx="3442106" cy="1828800"/>
          </a:xfrm>
          <a:prstGeom prst="roundRect">
            <a:avLst>
              <a:gd name="adj" fmla="val 3500"/>
            </a:avLst>
          </a:prstGeom>
          <a:solidFill>
            <a:srgbClr val="241417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61253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53288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pessoa responde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916936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conta dela, um bloco azul: «Confirmar» num clique, ou «Recusar este horário» com motivo obrigatório.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99197" y="2743200"/>
            <a:ext cx="201168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182661" y="1874520"/>
            <a:ext cx="3442106" cy="1828800"/>
          </a:xfrm>
          <a:prstGeom prst="roundRect">
            <a:avLst>
              <a:gd name="adj" fmla="val 3500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420405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420405" y="253288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repropõe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20405" y="2916936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«Propor outro horário». O formulário reabre e a resposta anterior é zerada — o ciclo recomeça limpo.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67832" y="3886200"/>
            <a:ext cx="256032" cy="164592"/>
          </a:xfrm>
          <a:prstGeom prst="lef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370168" y="38039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ao passo 1, quantas vezes for preciso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297680"/>
            <a:ext cx="11057839" cy="1188720"/>
          </a:xfrm>
          <a:prstGeom prst="roundRect">
            <a:avLst>
              <a:gd name="adj" fmla="val 538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859536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vê na lista do painel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" y="4791456"/>
            <a:ext cx="278892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859536" y="47914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77056" y="4791456"/>
            <a:ext cx="278892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3877056" y="47914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recusado + motivo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94576" y="4791456"/>
            <a:ext cx="278892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A73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6894576" y="47914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sem resposta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6692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consultas não há teto de iterações. Nas reservas, a versão simétrica (com contraproposta da pessoa e limite de 3 rodadas) está especificada, ainda não implementada.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4.10 — RESERVA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solicitação até a retirada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904329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19043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solicitada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41448"/>
            <a:ext cx="1904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pede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26121" y="2121408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855305" y="1965960"/>
            <a:ext cx="1904329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2855305" y="1965960"/>
            <a:ext cx="19043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em_preparacao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855305" y="2441448"/>
            <a:ext cx="1904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14499" y="2121408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143683" y="1965960"/>
            <a:ext cx="1904329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143683" y="1965960"/>
            <a:ext cx="19043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retirada_agendada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143683" y="2441448"/>
            <a:ext cx="1904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«a combinar»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02876" y="2121408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432060" y="1965960"/>
            <a:ext cx="1904329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432060" y="1965960"/>
            <a:ext cx="19043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pronta_para_retirada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432060" y="2441448"/>
            <a:ext cx="1904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separado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391254" y="2121408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720438" y="1965960"/>
            <a:ext cx="1904329" cy="438912"/>
          </a:xfrm>
          <a:prstGeom prst="roundRect">
            <a:avLst>
              <a:gd name="adj" fmla="val 104167"/>
            </a:avLst>
          </a:prstGeom>
          <a:solidFill>
            <a:srgbClr val="2E1A1E"/>
          </a:solidFill>
          <a:ln w="1143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9720438" y="1965960"/>
            <a:ext cx="19043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retirada_efetivada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720438" y="2441448"/>
            <a:ext cx="1904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empréstimo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DE INSUCESSO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246120"/>
            <a:ext cx="2094525" cy="365760"/>
          </a:xfrm>
          <a:prstGeom prst="roundRect">
            <a:avLst>
              <a:gd name="adj" fmla="val 125000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566928" y="3246120"/>
            <a:ext cx="20945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cancelada_leitor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57600"/>
            <a:ext cx="20945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qualquer momento, exceto depois da retirada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07757" y="3246120"/>
            <a:ext cx="2094525" cy="365760"/>
          </a:xfrm>
          <a:prstGeom prst="roundRect">
            <a:avLst>
              <a:gd name="adj" fmla="val 125000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2807757" y="3246120"/>
            <a:ext cx="20945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cancelada_biblioteca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807757" y="3657600"/>
            <a:ext cx="20945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— motivo obrigatório se já havia hora marcada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48585" y="3246120"/>
            <a:ext cx="2094525" cy="365760"/>
          </a:xfrm>
          <a:prstGeom prst="roundRect">
            <a:avLst>
              <a:gd name="adj" fmla="val 125000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5048585" y="3246120"/>
            <a:ext cx="20945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expirada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048585" y="3657600"/>
            <a:ext cx="20945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automática, 14 dias sem resposta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89414" y="3246120"/>
            <a:ext cx="2094525" cy="365760"/>
          </a:xfrm>
          <a:prstGeom prst="roundRect">
            <a:avLst>
              <a:gd name="adj" fmla="val 125000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7289414" y="3246120"/>
            <a:ext cx="20945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retirada_no_show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89414" y="3657600"/>
            <a:ext cx="20945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veio buscar — automático ou manual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530243" y="3246120"/>
            <a:ext cx="2094525" cy="365760"/>
          </a:xfrm>
          <a:prstGeom prst="roundRect">
            <a:avLst>
              <a:gd name="adj" fmla="val 125000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9530243" y="3246120"/>
            <a:ext cx="20945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9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liberada_para_circulacao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530243" y="3657600"/>
            <a:ext cx="20945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automática das duas últimas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" y="4434840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 txBox="1"/>
          <p:nvPr/>
        </p:nvSpPr>
        <p:spPr>
          <a:xfrm>
            <a:off x="822960" y="4434840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reserva com hora marcada SEMPRE tem data: o banco recusa uma etapa de agendamento sem data preenchida. «Marcar sem marcar» não existe.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539496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tela, a modal de transição mostra as etapas já passadas em cinza e esconde as impossíveis. Só o que é clicável aparece clicável.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4.11 — O GESTO SEM VOLTA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Retirada efetivada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2E1A1E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86968" y="19385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botão só aparece quando a reserva está «pronta para retirada»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22576"/>
            <a:ext cx="104177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abre uma modal de criação de empréstimo, com a data de devolução. Ao confirmar, uma única operação atômica fecha a reserva e cria o empréstimo. Não existe estado intermediário: ou tudo aconteceu, ou nada aconteceu.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291840"/>
            <a:ext cx="5346040" cy="1600200"/>
          </a:xfrm>
          <a:prstGeom prst="roundRect">
            <a:avLst>
              <a:gd name="adj" fmla="val 4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841248" y="345643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para a pessoa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785616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daqui ela não pode mais cancelar a reserva: ela tem um empréstimo. O caminho de volta é a devolução, não o cancelamento.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3291840"/>
            <a:ext cx="5346040" cy="1600200"/>
          </a:xfrm>
          <a:prstGeom prst="roundRect">
            <a:avLst>
              <a:gd name="adj" fmla="val 400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553048" y="345643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para vocês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785616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sai. O exemplar sai da lista de reservas e entra na de empréstimos. Se foi engano, o conserto é a devolução total imediata.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2064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15"/>
              </a:lnSpc>
              <a:buNone/>
            </a:pPr>
            <a:r>
              <a:rPr lang="en-US" sz="15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Terminal, sem anulação. Antes de clicar, confira duas coisas: é a pessoa certa, e é o exemplar certo. São os dois únicos segundos de atenção que este módulo pede.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4.12 — RENOVAÇÃO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cota é por item, não por empréstimo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política de 29/05/2026 — vinda de um caso concreto de balcão.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2E1A1E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86968" y="22494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que motivou tudo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596896"/>
            <a:ext cx="104177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«Ela pegou três livros. Trouxe dois, e quer prolongar o terceiro — que ela não trouxe.» Se a cota fosse por empréstimo, prolongar um obrigaria a prolongar os três, ou nenhum. Por isso a cota mora em cada item.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352745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68096" y="3858768"/>
            <a:ext cx="3125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pessoa renova sozinha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142232"/>
            <a:ext cx="312511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conta dela, botão por item — e um «renovar tudo» que continua existindo.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2122" y="3657600"/>
            <a:ext cx="352745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533290" y="3858768"/>
            <a:ext cx="3125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equipe renova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3290" y="4142232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painel: «Prorrogar» na linha principal, ou «Prolongar» numa sublinha do bloco aberto.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7317" y="3657600"/>
            <a:ext cx="3527450" cy="1463040"/>
          </a:xfrm>
          <a:prstGeom prst="roundRect">
            <a:avLst>
              <a:gd name="adj" fmla="val 4375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298485" y="3858768"/>
            <a:ext cx="3125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são as mesmas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98485" y="4142232"/>
            <a:ext cx="312511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oito motivos de recusa valem para os dois lados. Nenhum privilégio de balcão.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5349240"/>
            <a:ext cx="11057839" cy="774954"/>
          </a:xfrm>
          <a:prstGeom prst="roundRect">
            <a:avLst>
              <a:gd name="adj" fmla="val 7080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22960" y="5349240"/>
            <a:ext cx="10545775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 um lote é um laço item por item: os elegíveis passam, os que estouraram a cota são ignorados E listados no retorno. Nunca há falha silenciosa.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 — RECUSAS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oito motivos de recusa de renovação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mesmos textos que a pessoa lê na conta dela. Vocês podem citá-los sem traduzir.</a:t>
            </a:r>
            <a:endParaRPr lang="en-US" sz="13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 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pessoa lê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você faz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not_authenticated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 expirada. Faça login.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 reconecta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not_found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Empréstimo não encontrado.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Confira se já foi devolvido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already_extended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renovado uma vez.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Explique; não force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quota_exceeded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renovações atingido.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livro volta, ou o coletivo decide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overdue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Empréstimo em atraso. Devolva antes de renovar.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Peça a devolução primeiro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reserved_by_other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Reservado por outra pessoa.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Explique: há alguém esperando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not_renewable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não renovável segundo a política.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uma regra do exemplar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dues_blocked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Contribuição em atraso ou ausente.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Resolva a cotização, não o empréstimo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12080"/>
            <a:ext cx="11057839" cy="777240"/>
          </a:xfrm>
          <a:prstGeom prst="roundRect">
            <a:avLst>
              <a:gd name="adj" fmla="val 7059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822960" y="52120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destes motivos tem «forçar mesmo assim». É de propósito: quem decide exceção é o coletivo, fora do software — e depois alguém executa a decisão pelo caminho normal.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4.14 — NOTIFICAÇÕES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NUNCA escreve à mão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86968" y="1783080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Princípio: notifica-se quem NÃO iniciou a ação. Quem clica não recebe e-mail de si mesm(o/a/e).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2743200"/>
            <a:ext cx="5346040" cy="2542032"/>
          </a:xfrm>
          <a:prstGeom prst="roundRect">
            <a:avLst>
              <a:gd name="adj" fmla="val 2518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841248" y="2926080"/>
            <a:ext cx="479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sozinho, em todos os fluxos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332536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60704" y="326440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«Seu empréstimo foi registrado»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362712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060704" y="356616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«Você devolveu — ainda faltam estes dois»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92887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60704" y="386791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«Sua reserva está pronta para retirada»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" y="423062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1060704" y="4169664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«Seu horário de consulta é quinta, 14h»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453237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1060704" y="447141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«Seu empréstimo foi prorrogado até…»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" y="48341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1060704" y="477316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«Sua reserva expirou»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8728" y="2743200"/>
            <a:ext cx="5346040" cy="2542032"/>
          </a:xfrm>
          <a:prstGeom prst="roundRect">
            <a:avLst>
              <a:gd name="adj" fmla="val 2518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553048" y="2926080"/>
            <a:ext cx="479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Cópia para a coordenação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3264408"/>
            <a:ext cx="4797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5"/>
              </a:lnSpc>
              <a:buNone/>
            </a:pPr>
            <a:r>
              <a:rPr lang="en-US" sz="12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ação iniciada pela equipe manda também um e-mail técnico para o endereço de coordenação da biblioteca — hoje, os cancelamentos pela biblioteca e os não comparecimentos.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3993261"/>
            <a:ext cx="4797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transparência interna: ninguém age no escuro, e não é preciso um diário à parte.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522976"/>
            <a:ext cx="1105783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sai no idioma escolhido pela pessoa; a cópia interna sai em português. Dentro do aplicativo, na aba de avisos, só se repetem cinco categorias urgentes — reserva pronta, consulta pronta, atraso, decisões de restrição e avisos de retenção de dados. As etapas intermediárias não poluem a caixa de avisos.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 — À NOITE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sem ninguém clicar</a:t>
            </a:r>
            <a:endParaRPr lang="en-US" sz="31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Expiração de reservas paradas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hora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Passados 14 dias sem resposta, a reserva expira e um e-mail 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de não comparecimento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hora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Passadas 24 h da hora marcada, marca não comparecimento e libera o livro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Expiração de consultas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com prazo vencido passam a expiradas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Lembretes de devolução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D-5, D-3, no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Avisa a pessoa que a data se aproxima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Cobranças de atraso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D+1, D+7, D+30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Avisa a pessoa que passou da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Lembretes de consulta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D-1, no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Lembra o horário marcado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adormecido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Expiração de negociação de horário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hora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as negociações de retirada que se arrastam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Avisos e purga LGPD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Avisa 30 dias antes, depois purga o histórico vencido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Equipe: carência e inatividade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hora / diário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 as retiradas no 7º dia e desativa contas paradas há 9 meses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250752"/>
            <a:ext cx="11057839" cy="774954"/>
          </a:xfrm>
          <a:prstGeom prst="roundRect">
            <a:avLst>
              <a:gd name="adj" fmla="val 7080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5250752"/>
            <a:ext cx="10545775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 no agendador em 26/08/2026: tudo o que está marcado «ativo» está de fato ligado. As duas linhas «a verificar» e a linha «adormecido» continuam sem confirmação — nas oito semanas, confiram se esses lembretes chegam de verdade.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4.16 — BALCÃO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Doze situações e o gesto certo · 1 a 6</a:t>
            </a:r>
            <a:endParaRPr lang="en-US" sz="31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gesto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pessoa está em atraso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à mão: as cobranças saem sozinhas. A renovação está bloqueada — peça a devolução antes.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conta não está validada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 está «em espera» e vê uma tela de aviso. Vá ao painel, aba de contas em espera, e valide fisicamente. Não contorne criando o empréstimo.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cotização venceu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bloqueio vale na criação E na renovação. O gesto é resolver a cotização, não forçar o empréstimo.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Tentativa de duplo empréstimo do mesmo exemplar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Impossível: a criação verifica e recusa sozinha. Se recusou, é porque o exemplar já está com alguém.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Empréstimo criado por engano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Devolução total imediata. Não existe anulação — e não faz falta.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 devolve um de três livros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«Devolver itens selecionados». O cabeçalho vira parcial e o e-mail já lista o que falta.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 — BALCÃO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Doze situações e o gesto certo · 7 a 12</a:t>
            </a:r>
            <a:endParaRPr lang="en-US" sz="31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gesto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 prolongar um livro que não trouxe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exatamente o caso da cota por item: «Prolongar» na sublinha desse livro. Os outros não se mexem.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 esgotada num item do lote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Clique «Prorrogar» na linha principal assim mesmo. Os elegíveis passam, esse aparece listado como ignorado.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livro está reservado por outra pessoa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renovação é recusada. Explique que há alguém esperando — a fila é uma decisão coletiva, não uma falha.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veio buscar a reserva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tarefa automática resolve dentro de uma hora. Para adiantar, o botão manual aparece depois da hora marcada.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compareceu à consulta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«Marcar não comparecimento» — só aparece depois da hora, e nunca se a pessoa tinha recusado o horário. Não encerra a consulta.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Livro perdido ou danificado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fluxo cobre isto hoje. Resolva fora do software e anote — o próximo slide explica.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4.18 — LIMITES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que o software ainda não faz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disso faz parte de saber usar. Não é falha de vocês quando não acham o botão.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27450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2350008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 perdido ou danificado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41092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estado cobre isso. A linha do item só conhece «aberto» e «devolvido». Por enquanto: registre a devolução, anote fora do sistema, e leve o caso à coordenação.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2122" y="2148840"/>
            <a:ext cx="3527450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33290" y="2350008"/>
            <a:ext cx="312511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do cartão de leitor(a/e)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33290" y="2877312"/>
            <a:ext cx="31251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cartão existe e se gera, mas a função que resolve o código lido ainda não foi construída. No balcão: busca por nome.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7317" y="2148840"/>
            <a:ext cx="3527450" cy="2103120"/>
          </a:xfrm>
          <a:prstGeom prst="roundRect">
            <a:avLst>
              <a:gd name="adj" fmla="val 304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298485" y="2350008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PEB entre bibliotecas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298485" y="2641092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de vida está escrito, com todos os estados. Nenhuma tela existe. Hoje, empréstimo entre bibliotecas é conversa entre coordenações.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61772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22960" y="46177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faltar alguma coisa, o caminho não é improvisar dentro do sistema — é anotar o caso e levar para a coordenação. Uma lacuna documentada vira demanda; uma gambiarra vira dado sujo.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Levem uma folha de «lacunas encontradas» durante as oito semanas. Ela é o material mais útil que vocês podem produzir para o projeto.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3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NA MASSA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B0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4 — um dia inteiro de balcão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blmf-teste, em dupla: uma faz a leitora, a outra faz o balcão. Depois trocam.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200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86384" y="21396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um empréstimo de três exemplares para uma leitora fictícia.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3898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86384" y="2478024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só um dos três. Ler o e-mail que saiu.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87731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86384" y="2816352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Prolongar um dos dois que sobraram — e só ele.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1564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86384" y="3154680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consulta local, preparar, agendar. Do lado leitora: recusar o horário com motivo.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24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86384" y="36636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Repropor outro horário. Confirmar. Marcar como realizada.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6298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86384" y="4002024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reserva e levá-la até «pronta para retirada». Parar antes da retirada efetivada.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57200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86384" y="4511040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renovar um empréstimo em atraso e ler o motivo da recusa.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1773936"/>
            <a:ext cx="4949647" cy="3243072"/>
          </a:xfrm>
          <a:prstGeom prst="roundRect">
            <a:avLst>
              <a:gd name="adj" fmla="val 1974"/>
            </a:avLst>
          </a:prstGeom>
          <a:solidFill>
            <a:srgbClr val="E9DCD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949440" y="2048256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4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 SE…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2420112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168896" y="2359152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dizer o nome da etapa em que cada linha está, sem olhar a legenda.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94741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168896" y="2886456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viu chegar pelo menos três e-mails automáticos diferentes.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3474720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7168896" y="3413760"/>
            <a:ext cx="4181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prolongou um item sem mexer nos outros.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83133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7168896" y="3770376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foi recusada pelo menos uma vez e entendeu por quê.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9440" y="4358640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7168896" y="4297680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parou antes da retirada efetivada — e sabe explicar por que este é o único passo que pede conferência.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346192"/>
            <a:ext cx="11057839" cy="552069"/>
          </a:xfrm>
          <a:prstGeom prst="roundRect">
            <a:avLst>
              <a:gd name="adj" fmla="val 9938"/>
            </a:avLst>
          </a:prstGeom>
          <a:solidFill>
            <a:srgbClr val="E4D6D1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822960" y="5346192"/>
            <a:ext cx="10545775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aqui é o objetivo. A blmf-teste existe para isso: nenhum destes e-mails vai para uma pessoa real.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Os fluxos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548640"/>
            <a:ext cx="3291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CINCO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11096"/>
            <a:ext cx="749808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Coordenar: a vida da biblioteca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347427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3400552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princípios.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gramática política do software. Sem eles, os botões não fazem sentido.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408921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4015486"/>
            <a:ext cx="67299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Cooptar, passar a mão, pedir uma retirada, suspender — e o que cada gesto dispara.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70414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86384" y="4630420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Acolher.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Contas, validação física, multi-pertença, cartão de leitor(a/e).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509733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86384" y="5023612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rede.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Ocultar, apagar, reter — e o lugar da BLMF na federação.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~1h30 · é o módulo onde o software encontra a assembleia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— PRINCÍPIOS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primeiros princípios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valores decorativos: cada um explica um comportamento concreto da tela.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586152" cy="2478024"/>
          </a:xfrm>
          <a:prstGeom prst="roundRect">
            <a:avLst>
              <a:gd name="adj" fmla="val 258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235000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587752"/>
            <a:ext cx="2183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Delegação, não hierarquia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130296"/>
            <a:ext cx="2183816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papel é um título. Todos são temporários por natureza e revogáveis. É por isso que a rotação é fácil e que ninguém «perde o cargo» — se solta uma tarefa.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0824" y="2148840"/>
            <a:ext cx="2586152" cy="2478024"/>
          </a:xfrm>
          <a:prstGeom prst="roundRect">
            <a:avLst>
              <a:gd name="adj" fmla="val 258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591992" y="235000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591992" y="2587752"/>
            <a:ext cx="2183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Cooptação para os papéis de equipe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91992" y="3130296"/>
            <a:ext cx="2183816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entra na equipe por candidatura. A assembleia decide, e quem coordena apenas executa a decisão no software. Não existe porta de entrada pública.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4720" y="2148840"/>
            <a:ext cx="2586152" cy="2478024"/>
          </a:xfrm>
          <a:prstGeom prst="roundRect">
            <a:avLst>
              <a:gd name="adj" fmla="val 258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415888" y="235000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2587752"/>
            <a:ext cx="2183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Passar a mão é um direito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3130296"/>
            <a:ext cx="2183816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da equipe pode se rebaixar sozinha, a qualquer momento, sem pedir nada a ninguém. Nenhuma validação de terceiro, nenhum bloqueio.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38615" y="2148840"/>
            <a:ext cx="2586152" cy="2478024"/>
          </a:xfrm>
          <a:prstGeom prst="roundRect">
            <a:avLst>
              <a:gd name="adj" fmla="val 258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9239783" y="235000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239783" y="2587752"/>
            <a:ext cx="2183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Exclusão com prazo de carência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39783" y="3130296"/>
            <a:ext cx="2183816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dias entre o pedido e o efeito. O prazo existe para permitir a deliberação coletiva e a anulação por outra pessoa da coordenação.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937760"/>
            <a:ext cx="11057839" cy="807974"/>
          </a:xfrm>
          <a:prstGeom prst="roundRect">
            <a:avLst>
              <a:gd name="adj" fmla="val 679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822960" y="4937760"/>
            <a:ext cx="10545775" cy="8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juntos dizem a mesma coisa: um papel é uma tarefa que se aceita e se solta, nunca um lugar que se ocupa. Quem coordena hoje é leitora amanhã, e isso é normal — não é fracasso de ninguém.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— PRINCÍPIOS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os quatro últimos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86152" cy="2262124"/>
          </a:xfrm>
          <a:prstGeom prst="roundRect">
            <a:avLst>
              <a:gd name="adj" fmla="val 283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68096" y="221284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450592"/>
            <a:ext cx="2183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 máxima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993136"/>
            <a:ext cx="2183816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de auditoria da equipe é visível para TODA a equipe ativa, não só para quem coordena. É o que impede manipulação silenciosa.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90824" y="2011680"/>
            <a:ext cx="2586152" cy="2262124"/>
          </a:xfrm>
          <a:prstGeom prst="roundRect">
            <a:avLst>
              <a:gd name="adj" fmla="val 283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591992" y="221284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591992" y="2450592"/>
            <a:ext cx="2183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Notificação sistemática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91992" y="2993136"/>
            <a:ext cx="2183816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mudança de papel manda e-mail para a pessoa E para toda a coordenação. Ninguém tem o papel mexido sem saber.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4720" y="2011680"/>
            <a:ext cx="2586152" cy="2262124"/>
          </a:xfrm>
          <a:prstGeom prst="roundRect">
            <a:avLst>
              <a:gd name="adj" fmla="val 283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415888" y="221284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450592"/>
            <a:ext cx="21838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Soberania local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2749296"/>
            <a:ext cx="2183816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na BLMF não afeta em nada a Emma Goldman, mesmo para a mesma pessoa. Cada biblioteca manda nas próprias delegações.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8615" y="2011680"/>
            <a:ext cx="2586152" cy="2262124"/>
          </a:xfrm>
          <a:prstGeom prst="roundRect">
            <a:avLst>
              <a:gd name="adj" fmla="val 2830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239783" y="2212848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239783" y="2450592"/>
            <a:ext cx="2183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software não modela a assembleia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39783" y="2993136"/>
            <a:ext cx="2183816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voto, quórum nem ata de AG aqui. O SIGB executa decisões; ele não as toma. A assembleia acontece fora, entre pessoas.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584700"/>
            <a:ext cx="11057839" cy="807974"/>
          </a:xfrm>
          <a:prstGeom prst="roundRect">
            <a:avLst>
              <a:gd name="adj" fmla="val 679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822960" y="4584700"/>
            <a:ext cx="10545775" cy="8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P8 é o mais importante de todos para vocês duas: quando alguém disser «mas o sistema não deixa a gente decidir isso», a resposta é que o sistema nunca decidiu nada. A decisão é da assembleia; o software só registra.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— A ABA EQUIPE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vê em /biblioteca › equipe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7450" cy="1920240"/>
          </a:xfrm>
          <a:prstGeom prst="roundRect">
            <a:avLst>
              <a:gd name="adj" fmla="val 333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68096" y="1984248"/>
            <a:ext cx="312511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ativas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82952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com o papel de cada uma. Quem é bibliotecári(o/a/e) vê a lista mas não tem botão — só o «Passo a mão» na própria linha.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2122" y="1783080"/>
            <a:ext cx="3527450" cy="1920240"/>
          </a:xfrm>
          <a:prstGeom prst="roundRect">
            <a:avLst>
              <a:gd name="adj" fmla="val 333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4533290" y="1984248"/>
            <a:ext cx="312511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Suspensões e avisos em curso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33290" y="2282952"/>
            <a:ext cx="31251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suspens(o/a/e) e quem está em prazo de carência, com a data em que a retirada se torna efetiva.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783080"/>
            <a:ext cx="3527450" cy="1920240"/>
          </a:xfrm>
          <a:prstGeom prst="roundRect">
            <a:avLst>
              <a:gd name="adj" fmla="val 3333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8298485" y="1984248"/>
            <a:ext cx="312511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 da equipe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98485" y="2282952"/>
            <a:ext cx="312511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de auditoria: quem promoveu quem, quando, com qual motivo. Visível para toda a equipe ativa. Guardado para sempre.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PASTILHAS DE ESTADO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297680"/>
            <a:ext cx="260604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66928" y="4297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4297680"/>
            <a:ext cx="260604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3355848" y="4297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suspens(o/a/e)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4768" y="4297680"/>
            <a:ext cx="260604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144768" y="4297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até &lt;data&gt;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33688" y="4297680"/>
            <a:ext cx="2606040" cy="329184"/>
          </a:xfrm>
          <a:prstGeom prst="roundRect">
            <a:avLst>
              <a:gd name="adj" fmla="val 138889"/>
            </a:avLst>
          </a:prstGeom>
          <a:solidFill>
            <a:srgbClr val="2E1A1E"/>
          </a:solidFill>
          <a:ln w="11430">
            <a:solidFill>
              <a:srgbClr val="F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8933688" y="4297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 rede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93776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inativ(o/a/e) não aparece mais na lista por padrão. A linha não foi apagada: ela guarda o histórico. Para readmitir alguém, cria-se uma linha nova — não se «reabre» a antiga.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— COOPTAR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só porta, três tempos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setembro de 2026, toda entrada na equipe — acolhida ou coordenação — passa pelo mesmo circuito colegial.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5346040" cy="2752344"/>
          </a:xfrm>
          <a:prstGeom prst="roundRect">
            <a:avLst>
              <a:gd name="adj" fmla="val 2326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41248" y="2212848"/>
            <a:ext cx="4797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circuito, para os dois papéis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262737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060704" y="2566416"/>
            <a:ext cx="457794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do staff propõe, pelo public_id da pessoa. Ninguém se propõe a si mesm(o/a/e).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312724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1060704" y="3066288"/>
            <a:ext cx="4577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Endosso.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equipe tem 2 outras pessoas ativas ou mais, são precisas DUAS assinaturas. A pessoa visada nunca conta no quórum.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83133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1060704" y="3770376"/>
            <a:ext cx="457794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aceita ou recusa. Nada acontece sem a palavra dela.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433120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1060704" y="427024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caduca em 30 dias, por cron diário.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8728" y="2029968"/>
            <a:ext cx="5346040" cy="2718816"/>
          </a:xfrm>
          <a:prstGeom prst="roundRect">
            <a:avLst>
              <a:gd name="adj" fmla="val 2354"/>
            </a:avLst>
          </a:prstGeom>
          <a:solidFill>
            <a:srgbClr val="241417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553048" y="2212848"/>
            <a:ext cx="4797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salto colegial — opção da biblioteca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53048" y="262737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6772504" y="2566416"/>
            <a:ext cx="457794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alguém direto de leitor(a/e) a coordenação, sem passar por bibliotecári(o/a/e).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53048" y="312724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772504" y="3066288"/>
            <a:ext cx="457794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Desativado por padrão.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 a rede. Só o coletivo o ativa, na aba equipe › ajustes de governança.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53048" y="362712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6772504" y="3566160"/>
            <a:ext cx="457794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 usa hoje.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Terra Livre, por decisão própria: lá, entrar no coletivo é coordenar.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53048" y="412699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772504" y="4066032"/>
            <a:ext cx="457794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Reversível. </a:t>
            </a: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faz a escada voltar a ser o único caminho. As propostas de salto abertas falham na aceitação.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056632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822960" y="5056632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salto encurta a escada, nunca os consentimentos: proposta, endosso e aceite continuam os três. O modo de admissão governa agora as duas portas — verificado em 01/09/2026.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0309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Sempre: linha nova criada, antiga fechada, auditoria gravada, e-mails enviados.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— PASSO A MÃO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Soltar uma responsabilidade é um direito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2E1A1E"/>
          </a:solidFill>
          <a:ln w="1524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70"/>
              </a:lnSpc>
              <a:buNone/>
            </a:pPr>
            <a:r>
              <a:rPr lang="en-US" sz="19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precisa pedir autorização, justificar, nem esperar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3108960"/>
            <a:ext cx="5346040" cy="1691640"/>
          </a:xfrm>
          <a:prstGeom prst="roundRect">
            <a:avLst>
              <a:gd name="adj" fmla="val 37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841248" y="3291840"/>
            <a:ext cx="479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gesto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36911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60704" y="363016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equipe, na SUA própria linha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402031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060704" y="395935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«Passo a mão» → «Voltar a bibliotecári(o/a/e)»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434949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60704" y="428853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simples de confirmação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8728" y="3108960"/>
            <a:ext cx="5346040" cy="1691640"/>
          </a:xfrm>
          <a:prstGeom prst="roundRect">
            <a:avLst>
              <a:gd name="adj" fmla="val 37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553048" y="3291840"/>
            <a:ext cx="479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efeito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53048" y="36911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772504" y="363016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perde as permissões imediatamente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3048" y="402031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772504" y="395935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de baixo é conservado ou recriado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53048" y="434949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772504" y="428853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para você e para toda a coordenação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822960" y="5074920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exata da modal: «Esta ação é reversível apenas por outr(o/a/e) coordenador(a/e).» Se não houver outr(o/a/e), quem repõe é a administração da rede. Não é bloqueio — é um caminho a mais.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— RETIRADA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dias de carência, e não se acelera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41417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assembleia decide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5973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software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98216" y="213055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427400" y="196596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427400" y="196596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«Pedir a retirada»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27400" y="245973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vermelha, motivo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58688" y="213055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87872" y="196596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287872" y="196596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7 dias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87872" y="245973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saem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19159" y="213055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148343" y="196596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148343" y="196596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automático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8343" y="245973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7º dia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3132709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786384" y="3063240"/>
            <a:ext cx="10838383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2"/>
              </a:lnSpc>
              <a:buNone/>
            </a:pPr>
            <a:r>
              <a:rPr lang="en-US" sz="13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modal é vermelha </a:t>
            </a: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traz o prazo por extenso: «esta demanda produz efeito em &lt;data&gt;, salvo anulação por outr(o/a/e) coordenador(a/e)».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721481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86384" y="3652012"/>
            <a:ext cx="10838383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2"/>
              </a:lnSpc>
              <a:buNone/>
            </a:pPr>
            <a:r>
              <a:rPr lang="en-US" sz="13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recebe um e-mail </a:t>
            </a: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diz explicitamente que a decisão é da vida orgânica do coletivo, e que a conversa é com a coordenação — não com o software.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310253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786384" y="4240784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2"/>
              </a:lnSpc>
              <a:buNone/>
            </a:pPr>
            <a:r>
              <a:rPr lang="en-US" sz="13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coordenador(a/e) pode anular </a:t>
            </a: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dos sete dias. É o objetivo do prazo: dar tempo à deliberação.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694301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786384" y="4624832"/>
            <a:ext cx="108383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2"/>
              </a:lnSpc>
              <a:buNone/>
            </a:pPr>
            <a:r>
              <a:rPr lang="en-US" sz="13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prazo não se acelera. </a:t>
            </a: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opção que ficou faltando: é uma garantia política deliberada.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5257800"/>
            <a:ext cx="11057839" cy="777240"/>
          </a:xfrm>
          <a:prstGeom prst="roundRect">
            <a:avLst>
              <a:gd name="adj" fmla="val 7059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pode pedir a retirada de quem está suspens(o/a/e): primeiro levanta-se a suspensão. E ninguém pede a própria retirada — para sair, usa-se «Passo a mão».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— SUSPENSÃO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medida de urgência, e só de urgência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6040" cy="1674368"/>
          </a:xfrm>
          <a:prstGeom prst="roundRect">
            <a:avLst>
              <a:gd name="adj" fmla="val 3823"/>
            </a:avLst>
          </a:prstGeom>
          <a:solidFill>
            <a:srgbClr val="241417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2011680"/>
            <a:ext cx="4797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5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65248"/>
            <a:ext cx="4797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imediato, sem prazo. O caso típico não é conflito político: é conta comprometida — atividade anormal nos registros, senha provavelmente vazada. Corta-se o acesso agora e verifica-se depois.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828800"/>
            <a:ext cx="5346040" cy="2365248"/>
          </a:xfrm>
          <a:prstGeom prst="roundRect">
            <a:avLst>
              <a:gd name="adj" fmla="val 2706"/>
            </a:avLst>
          </a:prstGeom>
          <a:solidFill>
            <a:srgbClr val="241417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553048" y="2011680"/>
            <a:ext cx="4797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faz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53048" y="242195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772504" y="236524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equipe, linha da pessoa, «Suspender»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53048" y="275113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772504" y="269443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OBRIGATÓRIO — a modal não deixa passar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53048" y="308032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772504" y="302361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urgente à pessoa + convite a trocar a senha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53048" y="340950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772504" y="335280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 toda a coordenação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53048" y="373869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6772504" y="3681984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«Levantar suspensão» quando estiver verificado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468368"/>
            <a:ext cx="11057839" cy="807974"/>
          </a:xfrm>
          <a:prstGeom prst="roundRect">
            <a:avLst>
              <a:gd name="adj" fmla="val 6790"/>
            </a:avLst>
          </a:prstGeom>
          <a:solidFill>
            <a:srgbClr val="2E1A1E"/>
          </a:solidFill>
          <a:ln w="1524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22960" y="4468368"/>
            <a:ext cx="10545775" cy="8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motivo que você digita fica gravado para sempre no registro de auditoria, que é imutável e visível para toda a equipe. Escreva-o como se fosse lido em assembleia — porque pode ser.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95798"/>
            <a:ext cx="11057839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3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a suspensão é reversível e não precisa ser feito pela mesma pessoa que suspendeu. A suspensão em si é reversível; o texto do motivo não é.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— CASO LIMITE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a última pessoa da coordenação sair?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existia um bloqueio ritual. Foi removido de propósito em 2026.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66928" y="20574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clica «Passo a mão»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511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 impede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98216" y="222199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427400" y="20574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427400" y="20574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fica sem coordenação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7400" y="25511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degradado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58688" y="222199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87872" y="20574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287872" y="20574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é avisada por e-mail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87872" y="25511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19159" y="2221992"/>
            <a:ext cx="274320" cy="146304"/>
          </a:xfrm>
          <a:prstGeom prst="rightArrow">
            <a:avLst/>
          </a:prstGeom>
          <a:solidFill>
            <a:srgbClr val="7A14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148343" y="2057400"/>
            <a:ext cx="2476424" cy="457200"/>
          </a:xfrm>
          <a:prstGeom prst="roundRect">
            <a:avLst>
              <a:gd name="adj" fmla="val 100000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9148343" y="20574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coletivo escolhe alguém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8343" y="2551176"/>
            <a:ext cx="247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assembleia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3108960"/>
            <a:ext cx="5346040" cy="1691640"/>
          </a:xfrm>
          <a:prstGeom prst="roundRect">
            <a:avLst>
              <a:gd name="adj" fmla="val 37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841248" y="327355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continua funcionando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3621024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bibliotecári(o/a/e) continua fazendo empréstimos, devoluções, consultas, reservas. A biblioteca não para.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8728" y="3108960"/>
            <a:ext cx="5346040" cy="1691640"/>
          </a:xfrm>
          <a:prstGeom prst="roundRect">
            <a:avLst>
              <a:gd name="adj" fmla="val 378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553048" y="327355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congela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53048" y="3621024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mudar identidade pública, configuração, regras de cotização ou papéis. A vida coletiva fica em pausa até haver coordenação.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822960" y="4983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bloqueio foi retirado: prender alguém num papel para «proteger» a instituição é exatamente o contrário do que uma biblioteca anarquista quer fazer. A rede repõe; ninguém fica refém.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 — ACOLHER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pessoa entra na BLMF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27450" cy="2236216"/>
          </a:xfrm>
          <a:prstGeom prst="roundRect">
            <a:avLst>
              <a:gd name="adj" fmla="val 286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68096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542032"/>
            <a:ext cx="312511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 se inscreve em /criar-conta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69336"/>
            <a:ext cx="3125114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escolhe a BLMF na lista. A conta nasce «em espera». Um aviso no topo da página lembra que não é preciso conta nenhuma para explorar os catálogos públicos.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2122" y="1828800"/>
            <a:ext cx="3527450" cy="2236216"/>
          </a:xfrm>
          <a:prstGeom prst="roundRect">
            <a:avLst>
              <a:gd name="adj" fmla="val 286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33290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53329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33290" y="2542032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 vê uma tela de espera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33290" y="2833116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punição: é o estado normal antes do encontro presencial. Ela pode navegar, mas não pode engajar circulação.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7317" y="1828800"/>
            <a:ext cx="3527450" cy="2236216"/>
          </a:xfrm>
          <a:prstGeom prst="roundRect">
            <a:avLst>
              <a:gd name="adj" fmla="val 286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298485" y="202996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8298485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98485" y="2542032"/>
            <a:ext cx="312511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Vocês a validam fisicamente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2833116"/>
            <a:ext cx="3125114" cy="59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painel, aba de contas em espera. É o encontro real que valida — o slide seguinte explica por quê.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114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CONDIÇÕES PARA PEGAR UM LIVRO EMPRESTADO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434840"/>
            <a:ext cx="2079894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66928" y="4434840"/>
            <a:ext cx="20798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ativa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11414" y="4434840"/>
            <a:ext cx="2079894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2811414" y="4434840"/>
            <a:ext cx="20798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física feita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55900" y="4434840"/>
            <a:ext cx="2079894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5055900" y="4434840"/>
            <a:ext cx="20798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restrição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00387" y="4434840"/>
            <a:ext cx="2079894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7300387" y="4434840"/>
            <a:ext cx="20798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cotização em dia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44873" y="4434840"/>
            <a:ext cx="2079894" cy="402336"/>
          </a:xfrm>
          <a:prstGeom prst="roundRect">
            <a:avLst>
              <a:gd name="adj" fmla="val 113636"/>
            </a:avLst>
          </a:prstGeom>
          <a:solidFill>
            <a:srgbClr val="2E1A1E"/>
          </a:solidFill>
          <a:ln w="11430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9544873" y="4434840"/>
            <a:ext cx="20798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não atingidos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120640"/>
            <a:ext cx="11057839" cy="777240"/>
          </a:xfrm>
          <a:prstGeom prst="roundRect">
            <a:avLst>
              <a:gd name="adj" fmla="val 7059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822960" y="51206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duas escolhas na inscrição: «quero abrir uma nova biblioteca» e «sou leitor(a/e) de uma biblioteca que ainda não está no AnarBib». As duas caem na coordenação da rede, não na de vocês.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 — VALIDAÇÃO FÍSICA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exigimos um encontro real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burocracia: é o único filtro que uma rede de bibliotecas militantes pode 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2E1A1E"/>
          </a:solidFill>
          <a:ln w="9525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validação feita por UMA biblioteca vale para TODA a rede AnarBib.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670048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impede que uma conta criada on-line por qualquer pessoa — polícia, extrema direita, jornalista mal-intencionado — acesse os catálogos da rede e revele quem lê o quê no movimento. O que vocês verificam é simples: a pessoa está aqui, e a identidade bate com a conta.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703320"/>
            <a:ext cx="5346040" cy="1417320"/>
          </a:xfrm>
          <a:prstGeom prst="roundRect">
            <a:avLst>
              <a:gd name="adj" fmla="val 4516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841248" y="385876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18795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› contas em espera › «Validar fisicamente». Nota opcional. Fica gravado quem validou e quando. A pessoa recebe a confirmação.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3703320"/>
            <a:ext cx="5346040" cy="1417320"/>
          </a:xfrm>
          <a:prstGeom prst="roundRect">
            <a:avLst>
              <a:gd name="adj" fmla="val 4516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553048" y="385876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Revogar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4187952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OBRIGATÓRIO, e o motivo é transmitido à pessoa no e-mail. Reversível: dá para validar de novo depois.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230368"/>
            <a:ext cx="11057839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8"/>
              </a:lnSpc>
              <a:buNone/>
            </a:pPr>
            <a:r>
              <a:rPr lang="en-US" sz="120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é por PERTENÇA, não por conta: a mesma pessoa pode estar validada na BLMF e em espera na Emma Goldman. A confiança não é transitiva numa federação sem hierarquia. ⚠ Estado real em 26/08/2026: a BLMF está em reader_validation_mode = none — ou seja, ela NÃO exige o encontro presencial hoje. A caixa de areia blmf-teste está em presential, para vocês praticarem o gesto. Ligar ou não a validação na BLMF é uma decisão de coletivo.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5.11 — PERTENÇAS E CARTÃO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pessoa, várias bibliotecas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6040" cy="2665984"/>
          </a:xfrm>
          <a:prstGeom prst="roundRect">
            <a:avLst>
              <a:gd name="adj" fmla="val 240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1965960"/>
            <a:ext cx="47974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Multi-pertença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39147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060704" y="2334768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inscrição é livre; a partir da segunda, é preciso já ter uma pertença validada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8743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60704" y="2817622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agregada, ação sempre contextual: você age na biblioteca em que está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35718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060704" y="3300476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bibliotecas, transparência mínima por padrão — só a existência da pertença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84003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60704" y="3783330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isso exige parceria estabilizada E consentimento explícito da pessoa, revogável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8728" y="1783080"/>
            <a:ext cx="5346040" cy="2665984"/>
          </a:xfrm>
          <a:prstGeom prst="roundRect">
            <a:avLst>
              <a:gd name="adj" fmla="val 240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553048" y="1965960"/>
            <a:ext cx="47974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Cartão de leitor(a/e)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53048" y="239147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772504" y="2334768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documento de identidade: nada legível impresso, só o logo e um código opaco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53048" y="28743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772504" y="2817622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identifica, não autentica — perdido no chão, não dá acesso a nada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53048" y="335718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772504" y="3300476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cartão por pertença; gerá-lo é escolha da pessoa, não obrigação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3048" y="384003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6772504" y="3783330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muito exposta pode nunca ter um e ser atendida pelo nome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723384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22960" y="4723384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 do código pela câmera ainda não existe: a função que resolve o cartão não foi construída. No balcão, hoje, é busca pelo nome. O cartão serve por enquanto como pertencimento, não como atalho.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734304"/>
            <a:ext cx="11057839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8"/>
              </a:lnSpc>
              <a:buNone/>
            </a:pPr>
            <a:r>
              <a:rPr lang="en-US" sz="120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Regenerar um cartão é reversível: o antigo é revogado e um novo é emitido. Só uma versão fica ativa por vez. ⚠ Na BLMF o cartão está desligado hoje (reader_cards_enabled = não); ele está ligado na blmf-teste para o exercício.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5.12 — DADOS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Ocultar e apagar: dois direitos, duas naturezas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6040" cy="2011680"/>
          </a:xfrm>
          <a:prstGeom prst="roundRect">
            <a:avLst>
              <a:gd name="adj" fmla="val 3182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1993392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Ocultar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esconde uma linha do próprio histórico. Reversível. A equipe continua vendo, com a etiqueta «Ocultado pela leitora».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200400"/>
            <a:ext cx="479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NÃO pode desocultar. Ocultar é direito dela, não pedido a vocês.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46040" cy="2011680"/>
          </a:xfrm>
          <a:prstGeom prst="roundRect">
            <a:avLst>
              <a:gd name="adj" fmla="val 3182"/>
            </a:avLst>
          </a:prstGeom>
          <a:solidFill>
            <a:srgbClr val="241417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53048" y="1993392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5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Apagar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377440"/>
            <a:ext cx="479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Supressão física. A linha some das telas da equipe E das estatísticas agregadas. O botão exige digitar a palavra APAGAR.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200400"/>
            <a:ext cx="479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Irreversível. E honestamente: uma janela de cerca de 30 dias subsiste nos backups.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06908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40690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define uma duração MÁXIMA de conservação — um teto legal, nunca um piso. As preferências são por biblioteca e por domínio: empréstimos, reservas, consultas, cada um com o seu prazo.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07492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aviso automático sai 30 dias antes de qualquer purga. E é bom lembrar às pessoas: o histórico de leitura é, num contexto militante, um dado de risco. Guardar menos é uma medida de segurança, não de desleixo.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5.13 — A REDE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de rede não é chefia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6040" cy="2036064"/>
          </a:xfrm>
          <a:prstGeom prst="roundRect">
            <a:avLst>
              <a:gd name="adj" fmla="val 314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41248" y="1965960"/>
            <a:ext cx="4797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uma pessoa admin de rede pode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37623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060704" y="231952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a coordenação local faz, em qualquer biblioteca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70541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60704" y="264871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toda ação transversa é registrada num diário próprio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03460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060704" y="2977896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críticas mandam e-mail imediato à coordenação local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36378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60704" y="3307080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Cooptação por unanimidade; retirada coletiva por unanimidade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8728" y="1783080"/>
            <a:ext cx="5346040" cy="2343404"/>
          </a:xfrm>
          <a:prstGeom prst="roundRect">
            <a:avLst>
              <a:gd name="adj" fmla="val 2731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553048" y="1965960"/>
            <a:ext cx="4797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NÃO 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53048" y="237623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772504" y="2319528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hierarquia: a soberania da BLMF continua inteira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53048" y="270541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772504" y="2648712"/>
            <a:ext cx="457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suporte técnico: são companheir(o/a/e)s, não plantão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53048" y="303460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772504" y="2977896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substituição: intervêm se a coordenação local falta ou está impedida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3048" y="35174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6772504" y="3460750"/>
            <a:ext cx="4577944" cy="3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ocupa nenhuma biblioteca: nos contadores da BLMF, contam-se as pessoas da BLMF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400804"/>
            <a:ext cx="11057839" cy="807974"/>
          </a:xfrm>
          <a:prstGeom prst="roundRect">
            <a:avLst>
              <a:gd name="adj" fmla="val 679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22960" y="4400804"/>
            <a:ext cx="10545775" cy="8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Doutrina anti-megamáquina: «o SIGB é segundo, o canal humano é primeiro». Antes de abrir um chamado, escreva para uma pessoa. Canais: anarbib@proton.me e a sala Matrix da rede.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428234"/>
            <a:ext cx="1105783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/rede mostra a visão geral, as bibliotecas, as pessoas que administram a rede e os pedidos de adesão. A RebAL — Rede de Bibliotecas Alternativas Libertárias — é uma etiqueta de participação, não uma estrutura acima da BLMF. As ferramentas federativas (círculos, assembleias, gazeta) estão especificadas e ainda não implementadas.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5.14 — HERANÇA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já tomadas que engajam vocês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registradas no registro de decisões do projeto. Cita-se o identificador; não se reformula.</a:t>
            </a:r>
            <a:endParaRPr lang="en-US" sz="135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decisão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muda para vocês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DOC-I18N-1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 idiomas, entregues sempre juntos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de tradução parcial ou provisória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DOC-ADDR-1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aplicativo trata a pessoa por «você», nunca por «senhor(a)»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 que vocês escreverem seguem o mesmo 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DOC-NOTIF-1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Notifica-se quem não iniciou a 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escrevam e-mails que o sistema já manda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DOC-CONV-1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verdade no banco, vários modos de mostrar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o Módulo 2 decorre daqui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CONV-EXEC-1/2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Assistir jamais impor; sinalizar jamais bloquear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formulário nunca vai te punir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Deliberação em /biblioteca, operação em /painel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regra das duas casas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Q15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Doutrina do papel exclusivo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papel ativo por pessoa e por biblioteca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27/05/2026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membro o coletivo cujos dados estão realmente no banco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adesão é um fato material, não uma assinatura de carta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EA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PARTNER-D4/D7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Simetria estrita de direitos; «dois para unir, um só para sair»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parceria prende ninguém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3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NA MASSA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B0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5 — três decisões de coordenação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mesa, sem tocar no software. Depois, executar só a nº 1 na blmf-teste.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20065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86384" y="2139696"/>
            <a:ext cx="54498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assembleia decidiu acolher uma companheira na equipe. Descrevam a sequência completa: quem faz o quê, em qual ordem, e quais e-mails saem.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91388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86384" y="2852928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da equipe some há quatro meses e não responde. O que vocês fazem — e o que o software já faz sozinho?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42290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86384" y="3361944"/>
            <a:ext cx="54498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leitora pede que vocês apaguem todo o histórico dela. O que vocês podem fazer, o que ela tem de fazer, e o que é preciso dizer a ela com honestidade.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13613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86384" y="4075176"/>
            <a:ext cx="544982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b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Depois. </a:t>
            </a: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Executem só o caso 1, na blmf-teste, e leiam o registro de auditoria que ele gerou.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1773936"/>
            <a:ext cx="4949647" cy="2886456"/>
          </a:xfrm>
          <a:prstGeom prst="roundRect">
            <a:avLst>
              <a:gd name="adj" fmla="val 2218"/>
            </a:avLst>
          </a:prstGeom>
          <a:solidFill>
            <a:srgbClr val="E9DCD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949440" y="2048256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4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 SE…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0" y="2420112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168896" y="2359152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1, vocês começaram pela assembleia — não pelo clique.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2947416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168896" y="2886456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2, vocês souberam que existe um processo automático de inatividade, com avisos antes.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474720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168896" y="3413760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3, vocês souberam dizer que a equipe não apaga por ela, e mencionaram a janela dos backups.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4002024"/>
            <a:ext cx="82296" cy="82296"/>
          </a:xfrm>
          <a:prstGeom prst="rect">
            <a:avLst/>
          </a:prstGeom>
          <a:solidFill>
            <a:srgbClr val="4E6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168896" y="3941064"/>
            <a:ext cx="4181551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encontraram sozinh(o/a/e)s a linha nova no registro de auditoria.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989576"/>
            <a:ext cx="11057839" cy="552069"/>
          </a:xfrm>
          <a:prstGeom prst="roundRect">
            <a:avLst>
              <a:gd name="adj" fmla="val 9938"/>
            </a:avLst>
          </a:prstGeom>
          <a:solidFill>
            <a:srgbClr val="E4D6D1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22960" y="4989576"/>
            <a:ext cx="10545775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i="1" dirty="0">
                <a:solidFill>
                  <a:srgbClr val="1B0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exercício, o erro caro seria clicar antes de deliberar. Toda a coordenação cabe nessa frase.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Coordenar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548640"/>
            <a:ext cx="3291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SEIS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11096"/>
            <a:ext cx="7498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Manter e decidir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884995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86384" y="2811272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crítico.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pane do AnarBib justifica uma intervenção de madrugada.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7818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86384" y="3204464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antes de acreditar.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na tela quase nunca aponta a causa.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67138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86384" y="3597656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gestos sem volta.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completa, num slide só.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06457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86384" y="3990848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oito semanas. </a:t>
            </a: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concreto de autonomia depois desta formação.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1100" i="1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~40 min · o módulo que fecha a promessa do título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— SERENIDADE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AnarBib não é um serviço crítico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1143000"/>
          </a:xfrm>
          <a:prstGeom prst="roundRect">
            <a:avLst>
              <a:gd name="adj" fmla="val 480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80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«Uma biblioteca que fica dois dias sem acesso anota os empréstimos num caderno, como antes. Nenhuma intervenção noturna se justifica.»</a:t>
            </a:r>
            <a:endParaRPr lang="en-US" sz="18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cadastro, recuperação de senha, geolocalização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Avisar. São as únicas quatro funções que impedem alguém de entrar.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Incômodo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aos documentos digitais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Anotar e avisar no dia seguinte.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B0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urgência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treze funções de notificação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fila fica guardada no banco e se refaz sozinha. Uma noite parada não perde nada.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A7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Invisível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oito funções de busca de metadados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Ninguém percebe. Catalogue à mão nesse dia.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56429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3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hierarquia é a proteção de vocês contra o esgotamento. Uma biblioteca militante não tem plantão — e não precisa ter.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— DIAGNÓSTICO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tela quase nunca diz a verdade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quinze panes analisadas, a mensagem exibida NUNCA apontou a causa real.</a:t>
            </a:r>
            <a:endParaRPr lang="en-US" sz="135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pessoa vê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realmente aconteceu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«E-mail ou senha incorretos»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chamada interna do servidor falhou. A senha estava certa.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«Verifique sua conexão com a internet»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origem do pedido não está autorizada. A internet está ótima.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vazio, sem nenhuma mensagem de erro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visões materializadas não foram atualizadas.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133088"/>
            <a:ext cx="11057839" cy="807974"/>
          </a:xfrm>
          <a:prstGeom prst="roundRect">
            <a:avLst>
              <a:gd name="adj" fmla="val 679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822960" y="4133088"/>
            <a:ext cx="10545775" cy="8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Regra: antes de reportar, descreva o QUE você fez e o QUE apareceu — nunca o seu diagnóstico. «Cliquei em entrar e apareceu senha incorreta» é útil. «O login está quebrado» faz perder uma hora.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160518"/>
            <a:ext cx="11057839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não precisam ler registros técnicos. Precisam saber que eles existem, e que a pessoa que vai olhar precisa dos seus passos exatos — hora, navegador, o que você clicou.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— NA PRÁTICA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costuma quebrar, e o que não é pane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86152" cy="1678432"/>
          </a:xfrm>
          <a:prstGeom prst="roundRect">
            <a:avLst>
              <a:gd name="adj" fmla="val 381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68096" y="2075688"/>
            <a:ext cx="21838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424 no site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43912"/>
            <a:ext cx="2183816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da hospedagem das páginas. Costuma voltar sozinho. Espere, recarregue, avise se persistir no dia seguinte.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824" y="1874520"/>
            <a:ext cx="2586152" cy="1678432"/>
          </a:xfrm>
          <a:prstGeom prst="roundRect">
            <a:avLst>
              <a:gd name="adj" fmla="val 381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591992" y="2075688"/>
            <a:ext cx="21838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Publiquei e nada mudou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91992" y="2343912"/>
            <a:ext cx="2183816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executor de integração está desligado — ele vive numa máquina física. Não é erro de vocês.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4720" y="1874520"/>
            <a:ext cx="2586152" cy="1678432"/>
          </a:xfrm>
          <a:prstGeom prst="roundRect">
            <a:avLst>
              <a:gd name="adj" fmla="val 381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415888" y="2075688"/>
            <a:ext cx="21838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interrompido numa tabela desconhecida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557272"/>
            <a:ext cx="2183816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pane: é a REDE DE PROTEÇÃO funcionando. Ela recusa continuar quando aparece uma tabela que não conhece.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38615" y="1874520"/>
            <a:ext cx="2586152" cy="1678432"/>
          </a:xfrm>
          <a:prstGeom prst="roundRect">
            <a:avLst>
              <a:gd name="adj" fmla="val 3814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239783" y="2075688"/>
            <a:ext cx="21838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E-mails pararam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239783" y="2343912"/>
            <a:ext cx="2183816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4"/>
              </a:lnSpc>
              <a:buNone/>
            </a:pPr>
            <a:r>
              <a:rPr lang="en-US" sz="11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geral, a chave do serviço de envio. A fila não se perde — quando volta, os e-mails saem.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11057839" cy="791464"/>
          </a:xfrm>
          <a:prstGeom prst="roundRect">
            <a:avLst>
              <a:gd name="adj" fmla="val 6932"/>
            </a:avLst>
          </a:prstGeom>
          <a:solidFill>
            <a:srgbClr val="2E1A1E"/>
          </a:solidFill>
          <a:ln w="15240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22960" y="4224528"/>
            <a:ext cx="10545775" cy="79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Angulo cego conhecido: a forja não avisa quando uma publicação falha. Se uma mudança que vocês esperavam não apareceu no site, não é impressão — vale perguntar.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253736"/>
            <a:ext cx="11057839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3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automática: uma sonda de saúde roda fora da máquina de produção, e o silêncio dos backups por mais de 36 horas gera um incidente e um e-mail. Ninguém precisa vigiar à mão.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— BACKUPS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coisas, não uma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3066" cy="2240280"/>
          </a:xfrm>
          <a:prstGeom prst="roundRect">
            <a:avLst>
              <a:gd name="adj" fmla="val 2857"/>
            </a:avLst>
          </a:prstGeom>
          <a:solidFill>
            <a:srgbClr val="241417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04672" y="193852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MB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688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3027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despejo SQL de cerca de 20 MB. É o catálogo, as pessoas, os empréstimos.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4314" y="1828800"/>
            <a:ext cx="3503066" cy="2240280"/>
          </a:xfrm>
          <a:prstGeom prst="roundRect">
            <a:avLst>
              <a:gd name="adj" fmla="val 2857"/>
            </a:avLst>
          </a:prstGeom>
          <a:solidFill>
            <a:srgbClr val="241417"/>
          </a:solidFill>
          <a:ln w="9525">
            <a:solidFill>
              <a:srgbClr val="E0A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82058" y="193852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 MB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688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2834640"/>
            <a:ext cx="3027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Dezesseis depósitos, cerca de 430 MB. Capas, documentos digitalizados, imagens.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1701" y="1828800"/>
            <a:ext cx="3503066" cy="2240280"/>
          </a:xfrm>
          <a:prstGeom prst="roundRect">
            <a:avLst>
              <a:gd name="adj" fmla="val 2857"/>
            </a:avLst>
          </a:prstGeom>
          <a:solidFill>
            <a:srgbClr val="241417"/>
          </a:solidFill>
          <a:ln w="9525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359445" y="193852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5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59445" y="24688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segredos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9445" y="2834640"/>
            <a:ext cx="3027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e um segredos do cofre, incluindo o sal de pseudonimização. Restaurar com um sal diferente corrompe tudo — em silêncio.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11057839" cy="807974"/>
          </a:xfrm>
          <a:prstGeom prst="roundRect">
            <a:avLst>
              <a:gd name="adj" fmla="val 6790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22960" y="4343400"/>
            <a:ext cx="10545775" cy="8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Restauração já testada de verdade: dezessete segundos. O código não está no backup — ele vive no git, com espelhos públicos. Sob licença AGPL, qualquer pessoa pode reconstruir tudo.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389118"/>
            <a:ext cx="11057839" cy="44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30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fluxos cifrados, hospedados por companheir(o/a/e)s. Nada disso é gesto de vocês — mas saber que existe é o que permite trabalhar sem medo.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— O LIMITE DA PROMESSA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«não vai quebrar nada» para</a:t>
            </a:r>
            <a:endParaRPr lang="en-US" sz="31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gesto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não volta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conserto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Retirada efetivada numa reserva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o empréstimo numa operação atômica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Devolução total imediata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Devolver um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linha do item é só de 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um novo empréstimo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Renovado é renovado — sem anulação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Nenhum: assumido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Encerrar uma consulta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quatro estados terminais não têm saída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função de reabertura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Fechar uma pertença de equipe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reversibilidade direta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uma linha nova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texto de um motivo no registro de auditoria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imutável, guardado para sempre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— escreva com cuidado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carência de 7 dias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Garantia política, não opção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Anular dentro do prazo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Apagamento de histórico por uma leitora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Supressão física, sai das estatísticas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— e a equipe não pode fazer por ela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e-mail que saiu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transição dispara o seu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— não «teste para ver» em conta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413248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2E1A1E"/>
          </a:solidFill>
          <a:ln w="15240">
            <a:solidFill>
              <a:srgbClr val="E458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22960" y="5413248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15"/>
              </a:lnSpc>
              <a:buNone/>
            </a:pPr>
            <a:r>
              <a:rPr lang="en-US" sz="1550" i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 gestos. Nove. Tudo o mais neste software volta atrás. É por isso que a frase do título é honesta.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— ESCREVER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idiomas, e convenções militantes em cada um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95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vocês escreverem qualquer texto de interface, ele vai para os dez ao mesmo tempo. Nunca em duas etapas.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66928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pt-BR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83685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683685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0441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2800441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17198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3917198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33955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033955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0712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150712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7468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7267468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84225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384225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00982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9500982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17738" y="2194560"/>
            <a:ext cx="1007029" cy="384048"/>
          </a:xfrm>
          <a:prstGeom prst="roundRect">
            <a:avLst>
              <a:gd name="adj" fmla="val 119048"/>
            </a:avLst>
          </a:prstGeom>
          <a:solidFill>
            <a:srgbClr val="2E1A1E"/>
          </a:solidFill>
          <a:ln w="11430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10617738" y="2194560"/>
            <a:ext cx="1007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1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80360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Convenção inclusiva adotada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pt-BR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tripla o/a/e · demonstrativos dest(e/a) · contrações d(o/a/e) · palavras epicenas não mudam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«e» neutro militante argentino: le/les/une · participios acordados (conectade, segure)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Schwa ou barra. NUNCA «camerata»/«camerati» — é termo fascista. Use compagno/a/e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Genderstern: Genoss*in, Leser*in, Bibliothekar*in · tratamento por «du»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médian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66928" y="5358384"/>
            <a:ext cx="11057839" cy="758444"/>
          </a:xfrm>
          <a:prstGeom prst="roundRect">
            <a:avLst>
              <a:gd name="adj" fmla="val 7234"/>
            </a:avLst>
          </a:prstGeom>
          <a:solidFill>
            <a:srgbClr val="2E1A1E"/>
          </a:solidFill>
          <a:ln w="15240">
            <a:solidFill>
              <a:srgbClr val="C416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 txBox="1"/>
          <p:nvPr/>
        </p:nvSpPr>
        <p:spPr>
          <a:xfrm>
            <a:off x="822960" y="5358384"/>
            <a:ext cx="10545775" cy="758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F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deixar «Compas» sem tradução, e nunca entregar um idioma «depois». Uma tradução parcial diz a quem lê naquele idioma que ele é secundário.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— DEPOIS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oito semanas que fazem a autonomia</a:t>
            </a:r>
            <a:endParaRPr lang="en-US" sz="31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gesto concreto da semana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Catalogar acompanhad(o/a/e)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Cinco fichas por semana, em modo Simples, TODAS com proveniência preenchida. Revisão em dupla antes de publicar.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4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balcão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Assumir os empréstimos e devoluções de um dia de abertura por semana, sozinh(o/a/e), com telefone à mão.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e reservas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Conduzir pelo menos uma consulta do pedido até a realização, com negociação de horário de verdade.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3E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9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Levar à assembleia o voto do perfil da biblioteca. Executar a transição na aba transições.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27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956048"/>
            <a:ext cx="11057839" cy="1227328"/>
          </a:xfrm>
          <a:prstGeom prst="roundRect">
            <a:avLst>
              <a:gd name="adj" fmla="val 5215"/>
            </a:avLst>
          </a:prstGeom>
          <a:solidFill>
            <a:srgbClr val="2E1A1E"/>
          </a:solidFill>
          <a:ln w="9525">
            <a:solidFill>
              <a:srgbClr val="8FB0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41248" y="5138928"/>
            <a:ext cx="105091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B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ritual de meia hora, toda semana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5477256"/>
            <a:ext cx="1050919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perguntas, sempre as mesmas: o que eu não achei na tela? o que eu fiz e não entendi? o que faltou no software? As respostas vão para a folha de lacunas — e é ela que vira a pauta do encontro seguinte.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A05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Cliqua,</a:t>
            </a:r>
            <a:endParaRPr lang="en-US" sz="46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3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vai quebrar nada!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5204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i="1" dirty="0">
                <a:solidFill>
                  <a:srgbClr val="B39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quebrar, quebra pouco, quebra devagar, e alguém conserta junto com você.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06640" y="1371600"/>
            <a:ext cx="4218127" cy="4206240"/>
          </a:xfrm>
          <a:prstGeom prst="roundRect">
            <a:avLst>
              <a:gd name="adj" fmla="val 1522"/>
            </a:avLst>
          </a:prstGeom>
          <a:solidFill>
            <a:srgbClr val="241417"/>
          </a:solidFill>
          <a:ln w="9525">
            <a:solidFill>
              <a:srgbClr val="4227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680960" y="1572768"/>
            <a:ext cx="36694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80960" y="216408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900416" y="2103120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e exemplar são duas coisas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245668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900416" y="2395728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obrigatório: o título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74929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900416" y="2688336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de modo nunca perde nada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304190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900416" y="2980944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acesso manda, a exibição deriva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333451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900416" y="3273552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civil nunca se apaga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3627120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900416" y="3566160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ficha nova sai com proveniência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3919728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900416" y="3858768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desativado é proteção, não 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4212336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900416" y="4151376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software não decide: a assembleia decide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4504944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900416" y="4443984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gestos sem volta — e só nove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4797552"/>
            <a:ext cx="82296" cy="82296"/>
          </a:xfrm>
          <a:prstGeom prst="rect">
            <a:avLst/>
          </a:prstGeom>
          <a:solidFill>
            <a:srgbClr val="C416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900416" y="4736592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noite em claro se justifica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09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3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Dúvida, lacuna, ideia: anotem na folha e tragam. É assim que este software cresce — por gente que o usa, não por gente que o escreve.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Manter e decidir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71036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18406</Words>
  <Application>Microsoft Office PowerPoint</Application>
  <PresentationFormat>Grand écran</PresentationFormat>
  <Paragraphs>1914</Paragraphs>
  <Slides>89</Slides>
  <Notes>89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89</vt:i4>
      </vt:variant>
    </vt:vector>
  </HeadingPairs>
  <TitlesOfParts>
    <vt:vector size="94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Biblioteca Libertária Maxwell Ferreira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Formação — coordenação BLMF</dc:title>
  <dc:subject>PptxGenJS Presentation</dc:subject>
  <dc:creator>AnarBib</dc:creator>
  <cp:lastModifiedBy>Xavier Van Welden</cp:lastModifiedBy>
  <cp:revision>2</cp:revision>
  <dcterms:created xsi:type="dcterms:W3CDTF">2026-09-01T20:26:44Z</dcterms:created>
  <dcterms:modified xsi:type="dcterms:W3CDTF">2026-09-01T20:31:56Z</dcterms:modified>
</cp:coreProperties>
</file>